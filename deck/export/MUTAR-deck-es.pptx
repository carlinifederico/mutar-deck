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2462"/>
                </a:solidFill>
                <a:latin typeface="DM Mono"/>
                <a:cs typeface="DM Mono"/>
              </a:rPr>
              <a:t>01</a:t>
            </a:r>
            <a:r>
              <a:rPr lang="es-AR" sz="825" b="0" i="0" spc="149" dirty="0">
                <a:solidFill>
                  <a:srgbClr val="6E6C68"/>
                </a:solidFill>
                <a:latin typeface="DM Mono"/>
                <a:cs typeface="DM Mono"/>
              </a:rPr>
              <a:t>   ENTRADA</a:t>
            </a:r>
          </a:p>
        </p:txBody>
      </p:sp>
      <p:pic>
        <p:nvPicPr>
          <p:cNvPr id="102" name="p102"/>
          <p:cNvPicPr/>
          <p:nvPr/>
        </p:nvPicPr>
        <p:blipFill>
          <a:blip r:embed="rId2"/>
          <a:stretch>
            <a:fillRect/>
          </a:stretch>
        </p:blipFill>
        <p:spPr>
          <a:xfrm>
            <a:off x="2209800" y="2381250"/>
            <a:ext cx="7772400" cy="1819275"/>
          </a:xfrm>
          <a:prstGeom prst="rect">
            <a:avLst/>
          </a:prstGeom>
        </p:spPr>
      </p:pic>
      <p:sp>
        <p:nvSpPr>
          <p:cNvPr id="103" name="t103"/>
          <p:cNvSpPr txBox="1"/>
          <p:nvPr/>
        </p:nvSpPr>
        <p:spPr>
          <a:xfrm>
            <a:off x="685800" y="4476750"/>
            <a:ext cx="10820400" cy="153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</a:pPr>
            <a:r>
              <a:rPr lang="es-AR" sz="863" b="0" i="0" spc="138" dirty="0">
                <a:solidFill>
                  <a:srgbClr val="0D0C0B"/>
                </a:solidFill>
                <a:latin typeface="DM Mono"/>
                <a:cs typeface="DM Mono"/>
              </a:rPr>
              <a:t>EXPERIENCIA INMERSIVA Y COLABORATIVA   ·   REALIDAD MIXTA   ·   ESCULTURA COLECTIVA   ·   ARTE PÚBLICO</a:t>
            </a:r>
          </a:p>
        </p:txBody>
      </p:sp>
      <p:sp>
        <p:nvSpPr>
          <p:cNvPr id="104" name="r104"/>
          <p:cNvSpPr/>
          <p:nvPr/>
        </p:nvSpPr>
        <p:spPr>
          <a:xfrm>
            <a:off x="685800" y="5334000"/>
            <a:ext cx="10820400" cy="9525"/>
          </a:xfrm>
          <a:prstGeom prst="rect">
            <a:avLst/>
          </a:prstGeom>
          <a:solidFill>
            <a:srgbClr val="D5D1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105"/>
          <p:cNvSpPr/>
          <p:nvPr/>
        </p:nvSpPr>
        <p:spPr>
          <a:xfrm>
            <a:off x="685800" y="5505450"/>
            <a:ext cx="3644265" cy="2857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D1C8"/>
            </a:solidFill>
          </a:ln>
        </p:spPr>
        <p:txBody>
          <a:bodyPr/>
          <a:lstStyle/>
          <a:p/>
        </p:txBody>
      </p:sp>
      <p:sp>
        <p:nvSpPr>
          <p:cNvPr id="106" name="r106"/>
          <p:cNvSpPr/>
          <p:nvPr/>
        </p:nvSpPr>
        <p:spPr>
          <a:xfrm>
            <a:off x="838200" y="5624513"/>
            <a:ext cx="57150" cy="57150"/>
          </a:xfrm>
          <a:prstGeom prst="ellipse">
            <a:avLst/>
          </a:prstGeom>
          <a:solidFill>
            <a:srgbClr val="FF2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t107"/>
          <p:cNvSpPr txBox="1"/>
          <p:nvPr/>
        </p:nvSpPr>
        <p:spPr>
          <a:xfrm>
            <a:off x="971550" y="5591175"/>
            <a:ext cx="3225165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6E6C68"/>
                </a:solidFill>
                <a:latin typeface="DM Mono"/>
                <a:cs typeface="DM Mono"/>
              </a:rPr>
              <a:t>ESTRUCTURA EN DESARROLLO — NO ES UN DOCUMENTO FINAL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685800" y="5591175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825" b="0" i="0" spc="132" dirty="0">
                <a:solidFill>
                  <a:srgbClr val="6E6C68"/>
                </a:solidFill>
                <a:latin typeface="DM Mono"/>
                <a:cs typeface="DM Mono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109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C8F000"/>
                </a:solidFill>
                <a:latin typeface="DM Mono"/>
                <a:cs typeface="DM Mono"/>
              </a:rPr>
              <a:t>02</a:t>
            </a:r>
            <a:r>
              <a:rPr lang="es-AR" sz="825" b="0" i="0" spc="149" dirty="0">
                <a:solidFill>
                  <a:srgbClr val="8A8884"/>
                </a:solidFill>
                <a:latin typeface="DM Mono"/>
                <a:cs typeface="DM Mono"/>
              </a:rPr>
              <a:t>   LA PREGUNTA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685800" y="2000250"/>
            <a:ext cx="9334500" cy="9067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</a:pPr>
            <a:r>
              <a:rPr lang="es-AR" sz="5100" b="1" i="0" dirty="0">
                <a:solidFill>
                  <a:srgbClr val="F2EFE9"/>
                </a:solidFill>
                <a:latin typeface="Fredoka"/>
                <a:cs typeface="Fredoka"/>
              </a:rPr>
              <a:t>¿Cuántas cosas guardás sin saber por qué?</a:t>
            </a:r>
          </a:p>
        </p:txBody>
      </p:sp>
      <p:sp>
        <p:nvSpPr>
          <p:cNvPr id="111" name="t111"/>
          <p:cNvSpPr txBox="1"/>
          <p:nvPr/>
        </p:nvSpPr>
        <p:spPr>
          <a:xfrm>
            <a:off x="685800" y="447675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8A8884"/>
                </a:solidFill>
                <a:latin typeface="DM Mono"/>
                <a:cs typeface="DM Mono"/>
              </a:rPr>
              <a:t>LA ACUMULACIÓN SUCEDE EN SILENCIO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112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C8F000"/>
                </a:solidFill>
                <a:latin typeface="DM Mono"/>
                <a:cs typeface="DM Mono"/>
              </a:rPr>
              <a:t>03</a:t>
            </a:r>
            <a:r>
              <a:rPr lang="es-AR" sz="825" b="0" i="0" spc="149" dirty="0">
                <a:solidFill>
                  <a:srgbClr val="8A8884"/>
                </a:solidFill>
                <a:latin typeface="DM Mono"/>
                <a:cs typeface="DM Mono"/>
              </a:rPr>
              <a:t>   LA PREGUNTA</a:t>
            </a:r>
          </a:p>
        </p:txBody>
      </p:sp>
      <p:sp>
        <p:nvSpPr>
          <p:cNvPr id="113" name="t113"/>
          <p:cNvSpPr txBox="1"/>
          <p:nvPr/>
        </p:nvSpPr>
        <p:spPr>
          <a:xfrm>
            <a:off x="685800" y="2000250"/>
            <a:ext cx="9525000" cy="9067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</a:pPr>
            <a:r>
              <a:rPr lang="es-AR" sz="5100" b="1" i="0" dirty="0">
                <a:solidFill>
                  <a:srgbClr val="F2EFE9"/>
                </a:solidFill>
                <a:latin typeface="Fredoka"/>
                <a:cs typeface="Fredoka"/>
              </a:rPr>
              <a:t>¿Y si soltar fuera el comienzo de algo nuevo?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114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A403"/>
                </a:solidFill>
                <a:latin typeface="DM Mono"/>
                <a:cs typeface="DM Mono"/>
              </a:rPr>
              <a:t>04</a:t>
            </a:r>
            <a:r>
              <a:rPr lang="es-AR" sz="825" b="0" i="0" spc="149" dirty="0">
                <a:solidFill>
                  <a:srgbClr val="6E6C68"/>
                </a:solidFill>
                <a:latin typeface="DM Mono"/>
                <a:cs typeface="DM Mono"/>
              </a:rPr>
              <a:t>   LA IDEA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685800" y="1619250"/>
            <a:ext cx="10287000" cy="8267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lang="es-AR" sz="4650" b="1" i="0" dirty="0">
                <a:solidFill>
                  <a:srgbClr val="0D0C0B"/>
                </a:solidFill>
                <a:latin typeface="Fredoka"/>
                <a:cs typeface="Fredoka"/>
              </a:rPr>
              <a:t>MUTAR convierte el desorden personal en arte público y colaborativo.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685800" y="49530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16" dirty="0">
                <a:solidFill>
                  <a:srgbClr val="6E6C68"/>
                </a:solidFill>
                <a:latin typeface="DM Mono"/>
                <a:cs typeface="DM Mono"/>
              </a:rPr>
              <a:t>OBJETO · DESAPEGO · DIGITALIZACIÓN · CREACIÓN COLECTIVA · ESCULTURA FÍSICA · PATRIMONIO COMPARTIDO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117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A403"/>
                </a:solidFill>
                <a:latin typeface="DM Mono"/>
                <a:cs typeface="DM Mono"/>
              </a:rPr>
              <a:t>05</a:t>
            </a:r>
            <a:r>
              <a:rPr lang="es-AR" sz="825" b="0" i="0" spc="149" dirty="0">
                <a:solidFill>
                  <a:srgbClr val="6E6C68"/>
                </a:solidFill>
                <a:latin typeface="DM Mono"/>
                <a:cs typeface="DM Mono"/>
              </a:rPr>
              <a:t>   LA IDEA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685800" y="1143000"/>
            <a:ext cx="9525000" cy="6134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lang="es-AR" sz="3450" b="1" i="0" dirty="0">
                <a:solidFill>
                  <a:srgbClr val="0D0C0B"/>
                </a:solidFill>
                <a:latin typeface="Fredoka"/>
                <a:cs typeface="Fredoka"/>
              </a:rPr>
              <a:t>La acumulación como carga contemporánea.</a:t>
            </a:r>
          </a:p>
        </p:txBody>
      </p:sp>
      <p:sp>
        <p:nvSpPr>
          <p:cNvPr id="119" name="r119"/>
          <p:cNvSpPr/>
          <p:nvPr/>
        </p:nvSpPr>
        <p:spPr>
          <a:xfrm>
            <a:off x="685800" y="2667000"/>
            <a:ext cx="3403600" cy="28575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t120"/>
          <p:cNvSpPr txBox="1"/>
          <p:nvPr/>
        </p:nvSpPr>
        <p:spPr>
          <a:xfrm>
            <a:off x="685800" y="2819400"/>
            <a:ext cx="34036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A403"/>
                </a:solidFill>
                <a:latin typeface="DM Mono"/>
                <a:cs typeface="DM Mono"/>
              </a:rPr>
              <a:t>01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685800" y="3067050"/>
            <a:ext cx="3403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s-AR" sz="1800" b="1" i="0" dirty="0">
                <a:solidFill>
                  <a:srgbClr val="0D0C0B"/>
                </a:solidFill>
                <a:latin typeface="Fredoka"/>
                <a:cs typeface="Fredoka"/>
              </a:rPr>
              <a:t>Guardamos lo que ya no usamos.</a:t>
            </a:r>
          </a:p>
        </p:txBody>
      </p:sp>
      <p:sp>
        <p:nvSpPr>
          <p:cNvPr id="122" name="r122"/>
          <p:cNvSpPr/>
          <p:nvPr/>
        </p:nvSpPr>
        <p:spPr>
          <a:xfrm>
            <a:off x="4394200" y="2667000"/>
            <a:ext cx="3403600" cy="28575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t123"/>
          <p:cNvSpPr txBox="1"/>
          <p:nvPr/>
        </p:nvSpPr>
        <p:spPr>
          <a:xfrm>
            <a:off x="4394200" y="2819400"/>
            <a:ext cx="34036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A403"/>
                </a:solidFill>
                <a:latin typeface="DM Mono"/>
                <a:cs typeface="DM Mono"/>
              </a:rPr>
              <a:t>02</a:t>
            </a:r>
          </a:p>
        </p:txBody>
      </p:sp>
      <p:sp>
        <p:nvSpPr>
          <p:cNvPr id="124" name="t124"/>
          <p:cNvSpPr txBox="1"/>
          <p:nvPr/>
        </p:nvSpPr>
        <p:spPr>
          <a:xfrm>
            <a:off x="4394200" y="3067050"/>
            <a:ext cx="3403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s-AR" sz="1800" b="1" i="0" dirty="0">
                <a:solidFill>
                  <a:srgbClr val="0D0C0B"/>
                </a:solidFill>
                <a:latin typeface="Fredoka"/>
                <a:cs typeface="Fredoka"/>
              </a:rPr>
              <a:t>No porque sirva. Porque soltar cuesta.</a:t>
            </a:r>
          </a:p>
        </p:txBody>
      </p:sp>
      <p:sp>
        <p:nvSpPr>
          <p:cNvPr id="125" name="r125"/>
          <p:cNvSpPr/>
          <p:nvPr/>
        </p:nvSpPr>
        <p:spPr>
          <a:xfrm>
            <a:off x="8102600" y="2667000"/>
            <a:ext cx="3403600" cy="28575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t126"/>
          <p:cNvSpPr txBox="1"/>
          <p:nvPr/>
        </p:nvSpPr>
        <p:spPr>
          <a:xfrm>
            <a:off x="8102600" y="2819400"/>
            <a:ext cx="34036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A403"/>
                </a:solidFill>
                <a:latin typeface="DM Mono"/>
                <a:cs typeface="DM Mono"/>
              </a:rPr>
              <a:t>03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8102600" y="3067050"/>
            <a:ext cx="3403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s-AR" sz="1800" b="1" i="0" dirty="0">
                <a:solidFill>
                  <a:srgbClr val="0D0C0B"/>
                </a:solidFill>
                <a:latin typeface="Fredoka"/>
                <a:cs typeface="Fredoka"/>
              </a:rPr>
              <a:t>Lo abundante se vuelve invisible.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685800" y="4476750"/>
            <a:ext cx="6667500" cy="426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s-AR" sz="2400" b="1" i="0" dirty="0">
                <a:solidFill>
                  <a:srgbClr val="B6A403"/>
                </a:solidFill>
                <a:latin typeface="Fredoka"/>
                <a:cs typeface="Fredoka"/>
              </a:rPr>
              <a:t>“Lo que está y no se usa nos fulminará.”</a:t>
            </a:r>
          </a:p>
        </p:txBody>
      </p:sp>
      <p:sp>
        <p:nvSpPr>
          <p:cNvPr id="129" name="t129"/>
          <p:cNvSpPr txBox="1"/>
          <p:nvPr/>
        </p:nvSpPr>
        <p:spPr>
          <a:xfrm>
            <a:off x="685800" y="5257800"/>
            <a:ext cx="28575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6E6C68"/>
                </a:solidFill>
                <a:latin typeface="DM Mono"/>
                <a:cs typeface="DM Mono"/>
              </a:rPr>
              <a:t>— LAS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130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A403"/>
                </a:solidFill>
                <a:latin typeface="DM Mono"/>
                <a:cs typeface="DM Mono"/>
              </a:rPr>
              <a:t>06</a:t>
            </a:r>
            <a:r>
              <a:rPr lang="es-AR" sz="825" b="0" i="0" spc="149" dirty="0">
                <a:solidFill>
                  <a:srgbClr val="6E6C68"/>
                </a:solidFill>
                <a:latin typeface="DM Mono"/>
                <a:cs typeface="DM Mono"/>
              </a:rPr>
              <a:t>   LA IDEA</a:t>
            </a:r>
          </a:p>
        </p:txBody>
      </p:sp>
      <p:sp>
        <p:nvSpPr>
          <p:cNvPr id="131" name="t131"/>
          <p:cNvSpPr txBox="1"/>
          <p:nvPr/>
        </p:nvSpPr>
        <p:spPr>
          <a:xfrm>
            <a:off x="685800" y="1143000"/>
            <a:ext cx="8572500" cy="6134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3450" b="1" i="0" dirty="0">
                <a:solidFill>
                  <a:srgbClr val="0D0C0B"/>
                </a:solidFill>
                <a:latin typeface="Fredoka"/>
                <a:cs typeface="Fredoka"/>
              </a:rPr>
              <a:t>¿Qué es MUTAR?</a:t>
            </a:r>
          </a:p>
        </p:txBody>
      </p:sp>
      <p:sp>
        <p:nvSpPr>
          <p:cNvPr id="132" name="r132"/>
          <p:cNvSpPr/>
          <p:nvPr/>
        </p:nvSpPr>
        <p:spPr>
          <a:xfrm>
            <a:off x="685800" y="2381250"/>
            <a:ext cx="3403600" cy="28575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t133"/>
          <p:cNvSpPr txBox="1"/>
          <p:nvPr/>
        </p:nvSpPr>
        <p:spPr>
          <a:xfrm>
            <a:off x="685800" y="2533650"/>
            <a:ext cx="34036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A403"/>
                </a:solidFill>
                <a:latin typeface="DM Mono"/>
                <a:cs typeface="DM Mono"/>
              </a:rPr>
              <a:t>DONAR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685800" y="2781300"/>
            <a:ext cx="3403600" cy="3067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s-AR" sz="1725" b="1" i="0" dirty="0">
                <a:solidFill>
                  <a:srgbClr val="0D0C0B"/>
                </a:solidFill>
                <a:latin typeface="Fredoka"/>
                <a:cs typeface="Fredoka"/>
              </a:rPr>
              <a:t>La gente entrega objetos reales que ya no usa.</a:t>
            </a:r>
          </a:p>
        </p:txBody>
      </p:sp>
      <p:sp>
        <p:nvSpPr>
          <p:cNvPr id="135" name="r135"/>
          <p:cNvSpPr/>
          <p:nvPr/>
        </p:nvSpPr>
        <p:spPr>
          <a:xfrm>
            <a:off x="4394200" y="2381250"/>
            <a:ext cx="3403600" cy="28575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t136"/>
          <p:cNvSpPr txBox="1"/>
          <p:nvPr/>
        </p:nvSpPr>
        <p:spPr>
          <a:xfrm>
            <a:off x="4394200" y="2533650"/>
            <a:ext cx="34036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A403"/>
                </a:solidFill>
                <a:latin typeface="DM Mono"/>
                <a:cs typeface="DM Mono"/>
              </a:rPr>
              <a:t>CONSTRUIR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4394200" y="2781300"/>
            <a:ext cx="3403600" cy="3067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s-AR" sz="1725" b="1" i="0" dirty="0">
                <a:solidFill>
                  <a:srgbClr val="0D0C0B"/>
                </a:solidFill>
                <a:latin typeface="Fredoka"/>
                <a:cs typeface="Fredoka"/>
              </a:rPr>
              <a:t>En realidad mixta, desconocidos construyen esculturas juntos.</a:t>
            </a:r>
          </a:p>
        </p:txBody>
      </p:sp>
      <p:sp>
        <p:nvSpPr>
          <p:cNvPr id="138" name="r138"/>
          <p:cNvSpPr/>
          <p:nvPr/>
        </p:nvSpPr>
        <p:spPr>
          <a:xfrm>
            <a:off x="8102600" y="2381250"/>
            <a:ext cx="3403600" cy="28575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t139"/>
          <p:cNvSpPr txBox="1"/>
          <p:nvPr/>
        </p:nvSpPr>
        <p:spPr>
          <a:xfrm>
            <a:off x="8102600" y="2533650"/>
            <a:ext cx="34036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A403"/>
                </a:solidFill>
                <a:latin typeface="DM Mono"/>
                <a:cs typeface="DM Mono"/>
              </a:rPr>
              <a:t>HACERLA REAL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8102600" y="2781300"/>
            <a:ext cx="3403600" cy="30670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lang="es-AR" sz="1725" b="1" i="0" dirty="0">
                <a:solidFill>
                  <a:srgbClr val="0D0C0B"/>
                </a:solidFill>
                <a:latin typeface="Fredoka"/>
                <a:cs typeface="Fredoka"/>
              </a:rPr>
              <a:t>La comunidad vota. Una escultura se construye de verdad.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685800" y="4476750"/>
            <a:ext cx="7810500" cy="426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s-AR" sz="2400" b="1" i="0" dirty="0">
                <a:solidFill>
                  <a:srgbClr val="B6A403"/>
                </a:solidFill>
                <a:latin typeface="Fredoka"/>
                <a:cs typeface="Fredoka"/>
              </a:rPr>
              <a:t>“Una transformación colectiva de lo virtual a lo real.”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142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2E9BFF"/>
                </a:solidFill>
                <a:latin typeface="DM Mono"/>
                <a:cs typeface="DM Mono"/>
              </a:rPr>
              <a:t>07</a:t>
            </a:r>
            <a:r>
              <a:rPr lang="es-AR" sz="825" b="0" i="0" spc="149" dirty="0">
                <a:solidFill>
                  <a:srgbClr val="8A8884"/>
                </a:solidFill>
                <a:latin typeface="DM Mono"/>
                <a:cs typeface="DM Mono"/>
              </a:rPr>
              <a:t>   EL RECORRIDO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685800" y="2190750"/>
            <a:ext cx="108204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2000"/>
              </a:lnSpc>
            </a:pPr>
            <a:r>
              <a:rPr lang="es-AR" sz="7200" b="0" i="0" dirty="0">
                <a:solidFill>
                  <a:srgbClr val="F2EFE9"/>
                </a:solidFill>
                <a:latin typeface="Bagel Fat One"/>
                <a:cs typeface="Bagel Fat One"/>
              </a:rPr>
              <a:t>CÓMO SUCEDE LA</a:t>
            </a:r>
          </a:p>
        </p:txBody>
      </p:sp>
      <p:sp>
        <p:nvSpPr>
          <p:cNvPr id="144" name="t144"/>
          <p:cNvSpPr txBox="1"/>
          <p:nvPr/>
        </p:nvSpPr>
        <p:spPr>
          <a:xfrm>
            <a:off x="685800" y="3333750"/>
            <a:ext cx="108204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2000"/>
              </a:lnSpc>
            </a:pPr>
            <a:r>
              <a:rPr lang="es-AR" sz="7200" b="0" i="0" dirty="0">
                <a:solidFill>
                  <a:srgbClr val="2E9BFF"/>
                </a:solidFill>
                <a:latin typeface="Bagel Fat One"/>
                <a:cs typeface="Bagel Fat One"/>
              </a:rPr>
              <a:t>MUTACIÓN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145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2E9BFF"/>
                </a:solidFill>
                <a:latin typeface="DM Mono"/>
                <a:cs typeface="DM Mono"/>
              </a:rPr>
              <a:t>08</a:t>
            </a:r>
            <a:r>
              <a:rPr lang="es-AR" sz="825" b="0" i="0" spc="149" dirty="0">
                <a:solidFill>
                  <a:srgbClr val="8A8884"/>
                </a:solidFill>
                <a:latin typeface="DM Mono"/>
                <a:cs typeface="DM Mono"/>
              </a:rPr>
              <a:t>   EL RECORRIDO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685800" y="914400"/>
            <a:ext cx="5715000" cy="426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400" b="1" i="0" dirty="0">
                <a:solidFill>
                  <a:srgbClr val="F2EFE9"/>
                </a:solidFill>
                <a:latin typeface="Fredoka"/>
                <a:cs typeface="Fredoka"/>
              </a:rPr>
              <a:t>Cinco movimientos</a:t>
            </a:r>
          </a:p>
        </p:txBody>
      </p:sp>
      <p:sp>
        <p:nvSpPr>
          <p:cNvPr id="147" name="r147"/>
          <p:cNvSpPr/>
          <p:nvPr/>
        </p:nvSpPr>
        <p:spPr>
          <a:xfrm>
            <a:off x="685800" y="1809750"/>
            <a:ext cx="2042160" cy="3429000"/>
          </a:xfrm>
          <a:prstGeom prst="roundRect">
            <a:avLst>
              <a:gd name="adj" fmla="val 9000"/>
            </a:avLst>
          </a:prstGeom>
          <a:noFill/>
          <a:ln w="12700">
            <a:solidFill>
              <a:srgbClr val="2E2C29"/>
            </a:solidFill>
          </a:ln>
        </p:spPr>
        <p:txBody>
          <a:bodyPr/>
          <a:lstStyle/>
          <a:p/>
        </p:txBody>
      </p:sp>
      <p:sp>
        <p:nvSpPr>
          <p:cNvPr id="148" name="t148"/>
          <p:cNvSpPr txBox="1"/>
          <p:nvPr/>
        </p:nvSpPr>
        <p:spPr>
          <a:xfrm>
            <a:off x="876300" y="1981200"/>
            <a:ext cx="1661160" cy="6934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s-AR" sz="3900" b="0" i="0" dirty="0">
                <a:solidFill>
                  <a:srgbClr val="FF2E88"/>
                </a:solidFill>
                <a:latin typeface="Bagel Fat One"/>
                <a:cs typeface="Bagel Fat One"/>
              </a:rPr>
              <a:t>1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876300" y="2686050"/>
            <a:ext cx="1661160" cy="2933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s-AR" sz="1650" b="1" i="0" dirty="0">
                <a:solidFill>
                  <a:srgbClr val="F2EFE9"/>
                </a:solidFill>
                <a:latin typeface="Fredoka"/>
                <a:cs typeface="Fredoka"/>
              </a:rPr>
              <a:t>Soltar</a:t>
            </a:r>
          </a:p>
        </p:txBody>
      </p:sp>
      <p:sp>
        <p:nvSpPr>
          <p:cNvPr id="150" name="t150"/>
          <p:cNvSpPr txBox="1"/>
          <p:nvPr/>
        </p:nvSpPr>
        <p:spPr>
          <a:xfrm>
            <a:off x="876300" y="3143250"/>
            <a:ext cx="166116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s-AR" sz="975" b="0" i="0" dirty="0">
                <a:solidFill>
                  <a:srgbClr val="FF2E88"/>
                </a:solidFill>
                <a:latin typeface="Bricolage Grotesque"/>
                <a:cs typeface="Bricolage Grotesque"/>
              </a:rPr>
              <a:t>“Elegís lo que ya no te sirve.”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876300" y="3733800"/>
            <a:ext cx="166116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lang="es-AR" sz="975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Escanear se vuelve un acto de desprendimiento.</a:t>
            </a:r>
          </a:p>
        </p:txBody>
      </p:sp>
      <p:sp>
        <p:nvSpPr>
          <p:cNvPr id="152" name="r152"/>
          <p:cNvSpPr/>
          <p:nvPr/>
        </p:nvSpPr>
        <p:spPr>
          <a:xfrm>
            <a:off x="2880360" y="1809750"/>
            <a:ext cx="2042160" cy="3429000"/>
          </a:xfrm>
          <a:prstGeom prst="roundRect">
            <a:avLst>
              <a:gd name="adj" fmla="val 9000"/>
            </a:avLst>
          </a:prstGeom>
          <a:noFill/>
          <a:ln w="12700">
            <a:solidFill>
              <a:srgbClr val="2E2C29"/>
            </a:solidFill>
          </a:ln>
        </p:spPr>
        <p:txBody>
          <a:bodyPr/>
          <a:lstStyle/>
          <a:p/>
        </p:txBody>
      </p:sp>
      <p:sp>
        <p:nvSpPr>
          <p:cNvPr id="153" name="t153"/>
          <p:cNvSpPr txBox="1"/>
          <p:nvPr/>
        </p:nvSpPr>
        <p:spPr>
          <a:xfrm>
            <a:off x="3070860" y="1981200"/>
            <a:ext cx="1661160" cy="6934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s-AR" sz="3900" b="0" i="0" dirty="0">
                <a:solidFill>
                  <a:srgbClr val="C8F000"/>
                </a:solidFill>
                <a:latin typeface="Bagel Fat One"/>
                <a:cs typeface="Bagel Fat One"/>
              </a:rPr>
              <a:t>2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3070860" y="2686050"/>
            <a:ext cx="1661160" cy="2933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s-AR" sz="1650" b="1" i="0" dirty="0">
                <a:solidFill>
                  <a:srgbClr val="F2EFE9"/>
                </a:solidFill>
                <a:latin typeface="Fredoka"/>
                <a:cs typeface="Fredoka"/>
              </a:rPr>
              <a:t>Compartir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3070860" y="3143250"/>
            <a:ext cx="166116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s-AR" sz="975" b="0" i="0" dirty="0">
                <a:solidFill>
                  <a:srgbClr val="C8F000"/>
                </a:solidFill>
                <a:latin typeface="Bricolage Grotesque"/>
                <a:cs typeface="Bricolage Grotesque"/>
              </a:rPr>
              <a:t>“Tu objeto deja de ser tuyo.”</a:t>
            </a:r>
          </a:p>
        </p:txBody>
      </p:sp>
      <p:sp>
        <p:nvSpPr>
          <p:cNvPr id="156" name="t156"/>
          <p:cNvSpPr txBox="1"/>
          <p:nvPr/>
        </p:nvSpPr>
        <p:spPr>
          <a:xfrm>
            <a:off x="3070860" y="3733800"/>
            <a:ext cx="166116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lang="es-AR" sz="975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Entra a una biblioteca con la que todos pueden construir.</a:t>
            </a:r>
          </a:p>
        </p:txBody>
      </p:sp>
      <p:sp>
        <p:nvSpPr>
          <p:cNvPr id="157" name="r157"/>
          <p:cNvSpPr/>
          <p:nvPr/>
        </p:nvSpPr>
        <p:spPr>
          <a:xfrm>
            <a:off x="5074920" y="1809750"/>
            <a:ext cx="2042160" cy="3429000"/>
          </a:xfrm>
          <a:prstGeom prst="roundRect">
            <a:avLst>
              <a:gd name="adj" fmla="val 9000"/>
            </a:avLst>
          </a:prstGeom>
          <a:noFill/>
          <a:ln w="12700">
            <a:solidFill>
              <a:srgbClr val="2E2C29"/>
            </a:solidFill>
          </a:ln>
        </p:spPr>
        <p:txBody>
          <a:bodyPr/>
          <a:lstStyle/>
          <a:p/>
        </p:txBody>
      </p:sp>
      <p:sp>
        <p:nvSpPr>
          <p:cNvPr id="158" name="t158"/>
          <p:cNvSpPr txBox="1"/>
          <p:nvPr/>
        </p:nvSpPr>
        <p:spPr>
          <a:xfrm>
            <a:off x="5265420" y="1981200"/>
            <a:ext cx="1661160" cy="6934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s-AR" sz="3900" b="0" i="0" dirty="0">
                <a:solidFill>
                  <a:srgbClr val="FFE500"/>
                </a:solidFill>
                <a:latin typeface="Bagel Fat One"/>
                <a:cs typeface="Bagel Fat One"/>
              </a:rPr>
              <a:t>3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5265420" y="2686050"/>
            <a:ext cx="1661160" cy="2933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s-AR" sz="1650" b="1" i="0" dirty="0">
                <a:solidFill>
                  <a:srgbClr val="F2EFE9"/>
                </a:solidFill>
                <a:latin typeface="Fredoka"/>
                <a:cs typeface="Fredoka"/>
              </a:rPr>
              <a:t>Crear y Jugar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5265420" y="3143250"/>
            <a:ext cx="166116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s-AR" sz="975" b="0" i="0" dirty="0">
                <a:solidFill>
                  <a:srgbClr val="FFE500"/>
                </a:solidFill>
                <a:latin typeface="Bricolage Grotesque"/>
                <a:cs typeface="Bricolage Grotesque"/>
              </a:rPr>
              <a:t>“Construir juntos sin dueño.”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5265420" y="3733800"/>
            <a:ext cx="166116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lang="es-AR" sz="975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Escala real. Las piezas grandes necesitan muchas manos.</a:t>
            </a:r>
          </a:p>
        </p:txBody>
      </p:sp>
      <p:sp>
        <p:nvSpPr>
          <p:cNvPr id="162" name="r162"/>
          <p:cNvSpPr/>
          <p:nvPr/>
        </p:nvSpPr>
        <p:spPr>
          <a:xfrm>
            <a:off x="7269480" y="1809750"/>
            <a:ext cx="2042160" cy="3429000"/>
          </a:xfrm>
          <a:prstGeom prst="roundRect">
            <a:avLst>
              <a:gd name="adj" fmla="val 9000"/>
            </a:avLst>
          </a:prstGeom>
          <a:noFill/>
          <a:ln w="12700">
            <a:solidFill>
              <a:srgbClr val="2E2C29"/>
            </a:solidFill>
          </a:ln>
        </p:spPr>
        <p:txBody>
          <a:bodyPr/>
          <a:lstStyle/>
          <a:p/>
        </p:txBody>
      </p:sp>
      <p:sp>
        <p:nvSpPr>
          <p:cNvPr id="163" name="t163"/>
          <p:cNvSpPr txBox="1"/>
          <p:nvPr/>
        </p:nvSpPr>
        <p:spPr>
          <a:xfrm>
            <a:off x="7459980" y="1981200"/>
            <a:ext cx="1661160" cy="6934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s-AR" sz="3900" b="0" i="0" dirty="0">
                <a:solidFill>
                  <a:srgbClr val="2E9BFF"/>
                </a:solidFill>
                <a:latin typeface="Bagel Fat One"/>
                <a:cs typeface="Bagel Fat One"/>
              </a:rPr>
              <a:t>4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7459980" y="2686050"/>
            <a:ext cx="1661160" cy="2933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s-AR" sz="1650" b="1" i="0" dirty="0">
                <a:solidFill>
                  <a:srgbClr val="F2EFE9"/>
                </a:solidFill>
                <a:latin typeface="Fredoka"/>
                <a:cs typeface="Fredoka"/>
              </a:rPr>
              <a:t>Votar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7459980" y="3143250"/>
            <a:ext cx="166116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s-AR" sz="975" b="0" i="0" dirty="0">
                <a:solidFill>
                  <a:srgbClr val="2E9BFF"/>
                </a:solidFill>
                <a:latin typeface="Bricolage Grotesque"/>
                <a:cs typeface="Bricolage Grotesque"/>
              </a:rPr>
              <a:t>“La comunidad decide qué existe.”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7459980" y="3733800"/>
            <a:ext cx="166116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lang="es-AR" sz="975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Cada escultura se publica online.</a:t>
            </a:r>
          </a:p>
        </p:txBody>
      </p:sp>
      <p:sp>
        <p:nvSpPr>
          <p:cNvPr id="167" name="r167"/>
          <p:cNvSpPr/>
          <p:nvPr/>
        </p:nvSpPr>
        <p:spPr>
          <a:xfrm>
            <a:off x="9464040" y="1809750"/>
            <a:ext cx="2042160" cy="3429000"/>
          </a:xfrm>
          <a:prstGeom prst="roundRect">
            <a:avLst>
              <a:gd name="adj" fmla="val 9000"/>
            </a:avLst>
          </a:prstGeom>
          <a:noFill/>
          <a:ln w="12700">
            <a:solidFill>
              <a:srgbClr val="2E2C29"/>
            </a:solidFill>
          </a:ln>
        </p:spPr>
        <p:txBody>
          <a:bodyPr/>
          <a:lstStyle/>
          <a:p/>
        </p:txBody>
      </p:sp>
      <p:sp>
        <p:nvSpPr>
          <p:cNvPr id="168" name="t168"/>
          <p:cNvSpPr txBox="1"/>
          <p:nvPr/>
        </p:nvSpPr>
        <p:spPr>
          <a:xfrm>
            <a:off x="9654540" y="1981200"/>
            <a:ext cx="1661160" cy="6934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s-AR" sz="3900" b="0" i="0" dirty="0">
                <a:solidFill>
                  <a:srgbClr val="FF5B1F"/>
                </a:solidFill>
                <a:latin typeface="Bagel Fat One"/>
                <a:cs typeface="Bagel Fat One"/>
              </a:rPr>
              <a:t>5</a:t>
            </a:r>
          </a:p>
        </p:txBody>
      </p:sp>
      <p:sp>
        <p:nvSpPr>
          <p:cNvPr id="169" name="t169"/>
          <p:cNvSpPr txBox="1"/>
          <p:nvPr/>
        </p:nvSpPr>
        <p:spPr>
          <a:xfrm>
            <a:off x="9654540" y="2686050"/>
            <a:ext cx="1661160" cy="2933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s-AR" sz="1650" b="1" i="0" dirty="0">
                <a:solidFill>
                  <a:srgbClr val="F2EFE9"/>
                </a:solidFill>
                <a:latin typeface="Fredoka"/>
                <a:cs typeface="Fredoka"/>
              </a:rPr>
              <a:t>Construir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9654540" y="3143250"/>
            <a:ext cx="166116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s-AR" sz="975" b="0" i="0" dirty="0">
                <a:solidFill>
                  <a:srgbClr val="FF5B1F"/>
                </a:solidFill>
                <a:latin typeface="Bricolage Grotesque"/>
                <a:cs typeface="Bricolage Grotesque"/>
              </a:rPr>
              <a:t>“Lo virtual se vuelve físico.”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9654540" y="3733800"/>
            <a:ext cx="166116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lang="es-AR" sz="975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La ganadora se construye con los objetos reales.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172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2E9BFF"/>
                </a:solidFill>
                <a:latin typeface="DM Mono"/>
                <a:cs typeface="DM Mono"/>
              </a:rPr>
              <a:t>09</a:t>
            </a:r>
            <a:r>
              <a:rPr lang="es-AR" sz="825" b="0" i="0" spc="149" dirty="0">
                <a:solidFill>
                  <a:srgbClr val="8A8884"/>
                </a:solidFill>
                <a:latin typeface="DM Mono"/>
                <a:cs typeface="DM Mono"/>
              </a:rPr>
              <a:t>   EL RECORRIDO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685800" y="914400"/>
            <a:ext cx="6667500" cy="3733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100" b="1" i="0" dirty="0">
                <a:solidFill>
                  <a:srgbClr val="F2EFE9"/>
                </a:solidFill>
                <a:latin typeface="Fredoka"/>
                <a:cs typeface="Fredoka"/>
              </a:rPr>
              <a:t>Diez etapas, un ciclo</a:t>
            </a:r>
          </a:p>
        </p:txBody>
      </p:sp>
      <p:sp>
        <p:nvSpPr>
          <p:cNvPr id="174" name="r174"/>
          <p:cNvSpPr/>
          <p:nvPr/>
        </p:nvSpPr>
        <p:spPr>
          <a:xfrm>
            <a:off x="685800" y="1504950"/>
            <a:ext cx="10820400" cy="9525"/>
          </a:xfrm>
          <a:prstGeom prst="rect">
            <a:avLst/>
          </a:prstGeom>
          <a:solidFill>
            <a:srgbClr val="2E2C2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t175"/>
          <p:cNvSpPr txBox="1"/>
          <p:nvPr/>
        </p:nvSpPr>
        <p:spPr>
          <a:xfrm>
            <a:off x="685800" y="1638300"/>
            <a:ext cx="38100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2E9BFF"/>
                </a:solidFill>
                <a:latin typeface="DM Mono"/>
                <a:cs typeface="DM Mono"/>
              </a:rPr>
              <a:t>01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1181100" y="1600200"/>
            <a:ext cx="32385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F2EFE9"/>
                </a:solidFill>
                <a:latin typeface="Fredoka"/>
                <a:cs typeface="Fredoka"/>
              </a:rPr>
              <a:t>Convocatoria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6781800" y="1638300"/>
            <a:ext cx="4724400" cy="1600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900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Objetos y sus historias</a:t>
            </a:r>
          </a:p>
        </p:txBody>
      </p:sp>
      <p:sp>
        <p:nvSpPr>
          <p:cNvPr id="178" name="r178"/>
          <p:cNvSpPr/>
          <p:nvPr/>
        </p:nvSpPr>
        <p:spPr>
          <a:xfrm>
            <a:off x="685800" y="1905000"/>
            <a:ext cx="10820400" cy="9525"/>
          </a:xfrm>
          <a:prstGeom prst="rect">
            <a:avLst/>
          </a:prstGeom>
          <a:solidFill>
            <a:srgbClr val="2E2C2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t179"/>
          <p:cNvSpPr txBox="1"/>
          <p:nvPr/>
        </p:nvSpPr>
        <p:spPr>
          <a:xfrm>
            <a:off x="685800" y="2038350"/>
            <a:ext cx="38100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2E9BFF"/>
                </a:solidFill>
                <a:latin typeface="DM Mono"/>
                <a:cs typeface="DM Mono"/>
              </a:rPr>
              <a:t>02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1276350" y="2000250"/>
            <a:ext cx="32385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F2EFE9"/>
                </a:solidFill>
                <a:latin typeface="Fredoka"/>
                <a:cs typeface="Fredoka"/>
              </a:rPr>
              <a:t>Curaduría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6781800" y="2038350"/>
            <a:ext cx="4724400" cy="1600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900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20 a 30 objetos</a:t>
            </a:r>
          </a:p>
        </p:txBody>
      </p:sp>
      <p:sp>
        <p:nvSpPr>
          <p:cNvPr id="182" name="r182"/>
          <p:cNvSpPr/>
          <p:nvPr/>
        </p:nvSpPr>
        <p:spPr>
          <a:xfrm>
            <a:off x="685800" y="2305050"/>
            <a:ext cx="10820400" cy="9525"/>
          </a:xfrm>
          <a:prstGeom prst="rect">
            <a:avLst/>
          </a:prstGeom>
          <a:solidFill>
            <a:srgbClr val="2E2C29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t183"/>
          <p:cNvSpPr txBox="1"/>
          <p:nvPr/>
        </p:nvSpPr>
        <p:spPr>
          <a:xfrm>
            <a:off x="685800" y="2438400"/>
            <a:ext cx="38100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2E9BFF"/>
                </a:solidFill>
                <a:latin typeface="DM Mono"/>
                <a:cs typeface="DM Mono"/>
              </a:rPr>
              <a:t>03</a:t>
            </a:r>
          </a:p>
        </p:txBody>
      </p:sp>
      <p:sp>
        <p:nvSpPr>
          <p:cNvPr id="184" name="t184"/>
          <p:cNvSpPr txBox="1"/>
          <p:nvPr/>
        </p:nvSpPr>
        <p:spPr>
          <a:xfrm>
            <a:off x="1371600" y="2400300"/>
            <a:ext cx="32385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F2EFE9"/>
                </a:solidFill>
                <a:latin typeface="Fredoka"/>
                <a:cs typeface="Fredoka"/>
              </a:rPr>
              <a:t>Recolección</a:t>
            </a:r>
          </a:p>
        </p:txBody>
      </p:sp>
      <p:sp>
        <p:nvSpPr>
          <p:cNvPr id="185" name="t185"/>
          <p:cNvSpPr txBox="1"/>
          <p:nvPr/>
        </p:nvSpPr>
        <p:spPr>
          <a:xfrm>
            <a:off x="6781800" y="2438400"/>
            <a:ext cx="4724400" cy="1600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900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Llegan al espacio</a:t>
            </a:r>
          </a:p>
        </p:txBody>
      </p:sp>
      <p:sp>
        <p:nvSpPr>
          <p:cNvPr id="186" name="r186"/>
          <p:cNvSpPr/>
          <p:nvPr/>
        </p:nvSpPr>
        <p:spPr>
          <a:xfrm>
            <a:off x="685800" y="2705100"/>
            <a:ext cx="10820400" cy="9525"/>
          </a:xfrm>
          <a:prstGeom prst="rect">
            <a:avLst/>
          </a:prstGeom>
          <a:solidFill>
            <a:srgbClr val="2E2C29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t187"/>
          <p:cNvSpPr txBox="1"/>
          <p:nvPr/>
        </p:nvSpPr>
        <p:spPr>
          <a:xfrm>
            <a:off x="685800" y="2838450"/>
            <a:ext cx="38100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2E9BFF"/>
                </a:solidFill>
                <a:latin typeface="DM Mono"/>
                <a:cs typeface="DM Mono"/>
              </a:rPr>
              <a:t>04</a:t>
            </a:r>
          </a:p>
        </p:txBody>
      </p:sp>
      <p:sp>
        <p:nvSpPr>
          <p:cNvPr id="188" name="t188"/>
          <p:cNvSpPr txBox="1"/>
          <p:nvPr/>
        </p:nvSpPr>
        <p:spPr>
          <a:xfrm>
            <a:off x="1466850" y="2800350"/>
            <a:ext cx="32385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F2EFE9"/>
                </a:solidFill>
                <a:latin typeface="Fredoka"/>
                <a:cs typeface="Fredoka"/>
              </a:rPr>
              <a:t>Escaneo</a:t>
            </a:r>
          </a:p>
        </p:txBody>
      </p:sp>
      <p:sp>
        <p:nvSpPr>
          <p:cNvPr id="189" name="t189"/>
          <p:cNvSpPr txBox="1"/>
          <p:nvPr/>
        </p:nvSpPr>
        <p:spPr>
          <a:xfrm>
            <a:off x="6781800" y="2838450"/>
            <a:ext cx="4724400" cy="1600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900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Fotogrametría, 3D, 360</a:t>
            </a:r>
          </a:p>
        </p:txBody>
      </p:sp>
      <p:sp>
        <p:nvSpPr>
          <p:cNvPr id="190" name="r190"/>
          <p:cNvSpPr/>
          <p:nvPr/>
        </p:nvSpPr>
        <p:spPr>
          <a:xfrm>
            <a:off x="685800" y="3105150"/>
            <a:ext cx="10820400" cy="9525"/>
          </a:xfrm>
          <a:prstGeom prst="rect">
            <a:avLst/>
          </a:prstGeom>
          <a:solidFill>
            <a:srgbClr val="2E2C2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t191"/>
          <p:cNvSpPr txBox="1"/>
          <p:nvPr/>
        </p:nvSpPr>
        <p:spPr>
          <a:xfrm>
            <a:off x="685800" y="3238500"/>
            <a:ext cx="38100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2E9BFF"/>
                </a:solidFill>
                <a:latin typeface="DM Mono"/>
                <a:cs typeface="DM Mono"/>
              </a:rPr>
              <a:t>05</a:t>
            </a:r>
          </a:p>
        </p:txBody>
      </p:sp>
      <p:sp>
        <p:nvSpPr>
          <p:cNvPr id="192" name="t192"/>
          <p:cNvSpPr txBox="1"/>
          <p:nvPr/>
        </p:nvSpPr>
        <p:spPr>
          <a:xfrm>
            <a:off x="1562100" y="3200400"/>
            <a:ext cx="32385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F2EFE9"/>
                </a:solidFill>
                <a:latin typeface="Fredoka"/>
                <a:cs typeface="Fredoka"/>
              </a:rPr>
              <a:t>Biblioteca digital</a:t>
            </a:r>
          </a:p>
        </p:txBody>
      </p:sp>
      <p:sp>
        <p:nvSpPr>
          <p:cNvPr id="193" name="t193"/>
          <p:cNvSpPr txBox="1"/>
          <p:nvPr/>
        </p:nvSpPr>
        <p:spPr>
          <a:xfrm>
            <a:off x="6781800" y="3238500"/>
            <a:ext cx="4724400" cy="1600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900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Cada objeto guarda su historia</a:t>
            </a:r>
          </a:p>
        </p:txBody>
      </p:sp>
      <p:sp>
        <p:nvSpPr>
          <p:cNvPr id="194" name="r194"/>
          <p:cNvSpPr/>
          <p:nvPr/>
        </p:nvSpPr>
        <p:spPr>
          <a:xfrm>
            <a:off x="685800" y="3505200"/>
            <a:ext cx="10820400" cy="9525"/>
          </a:xfrm>
          <a:prstGeom prst="rect">
            <a:avLst/>
          </a:prstGeom>
          <a:solidFill>
            <a:srgbClr val="2E2C2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t195"/>
          <p:cNvSpPr txBox="1"/>
          <p:nvPr/>
        </p:nvSpPr>
        <p:spPr>
          <a:xfrm>
            <a:off x="685800" y="3638550"/>
            <a:ext cx="38100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2E9BFF"/>
                </a:solidFill>
                <a:latin typeface="DM Mono"/>
                <a:cs typeface="DM Mono"/>
              </a:rPr>
              <a:t>06</a:t>
            </a:r>
          </a:p>
        </p:txBody>
      </p:sp>
      <p:sp>
        <p:nvSpPr>
          <p:cNvPr id="196" name="t196"/>
          <p:cNvSpPr txBox="1"/>
          <p:nvPr/>
        </p:nvSpPr>
        <p:spPr>
          <a:xfrm>
            <a:off x="1657350" y="3600450"/>
            <a:ext cx="32385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F2EFE9"/>
                </a:solidFill>
                <a:latin typeface="Fredoka"/>
                <a:cs typeface="Fredoka"/>
              </a:rPr>
              <a:t>Happening</a:t>
            </a:r>
          </a:p>
        </p:txBody>
      </p:sp>
      <p:sp>
        <p:nvSpPr>
          <p:cNvPr id="197" name="t197"/>
          <p:cNvSpPr txBox="1"/>
          <p:nvPr/>
        </p:nvSpPr>
        <p:spPr>
          <a:xfrm>
            <a:off x="6781800" y="3638550"/>
            <a:ext cx="4724400" cy="1600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900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Grupos de 10 a 15</a:t>
            </a:r>
          </a:p>
        </p:txBody>
      </p:sp>
      <p:sp>
        <p:nvSpPr>
          <p:cNvPr id="198" name="r198"/>
          <p:cNvSpPr/>
          <p:nvPr/>
        </p:nvSpPr>
        <p:spPr>
          <a:xfrm>
            <a:off x="685800" y="3905250"/>
            <a:ext cx="10820400" cy="9525"/>
          </a:xfrm>
          <a:prstGeom prst="rect">
            <a:avLst/>
          </a:prstGeom>
          <a:solidFill>
            <a:srgbClr val="2E2C2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t199"/>
          <p:cNvSpPr txBox="1"/>
          <p:nvPr/>
        </p:nvSpPr>
        <p:spPr>
          <a:xfrm>
            <a:off x="685800" y="4038600"/>
            <a:ext cx="38100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2E9BFF"/>
                </a:solidFill>
                <a:latin typeface="DM Mono"/>
                <a:cs typeface="DM Mono"/>
              </a:rPr>
              <a:t>07</a:t>
            </a:r>
          </a:p>
        </p:txBody>
      </p:sp>
      <p:sp>
        <p:nvSpPr>
          <p:cNvPr id="200" name="t200"/>
          <p:cNvSpPr txBox="1"/>
          <p:nvPr/>
        </p:nvSpPr>
        <p:spPr>
          <a:xfrm>
            <a:off x="1752600" y="4000500"/>
            <a:ext cx="32385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F2EFE9"/>
                </a:solidFill>
                <a:latin typeface="Fredoka"/>
                <a:cs typeface="Fredoka"/>
              </a:rPr>
              <a:t>Repetición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6781800" y="4038600"/>
            <a:ext cx="4724400" cy="1600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900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Semanas de sesiones</a:t>
            </a:r>
          </a:p>
        </p:txBody>
      </p:sp>
      <p:sp>
        <p:nvSpPr>
          <p:cNvPr id="202" name="r202"/>
          <p:cNvSpPr/>
          <p:nvPr/>
        </p:nvSpPr>
        <p:spPr>
          <a:xfrm>
            <a:off x="685800" y="4305300"/>
            <a:ext cx="10820400" cy="9525"/>
          </a:xfrm>
          <a:prstGeom prst="rect">
            <a:avLst/>
          </a:prstGeom>
          <a:solidFill>
            <a:srgbClr val="2E2C2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t203"/>
          <p:cNvSpPr txBox="1"/>
          <p:nvPr/>
        </p:nvSpPr>
        <p:spPr>
          <a:xfrm>
            <a:off x="685800" y="4438650"/>
            <a:ext cx="38100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2E9BFF"/>
                </a:solidFill>
                <a:latin typeface="DM Mono"/>
                <a:cs typeface="DM Mono"/>
              </a:rPr>
              <a:t>08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1847850" y="4400550"/>
            <a:ext cx="32385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F2EFE9"/>
                </a:solidFill>
                <a:latin typeface="Fredoka"/>
                <a:cs typeface="Fredoka"/>
              </a:rPr>
              <a:t>Votación pública</a:t>
            </a:r>
          </a:p>
        </p:txBody>
      </p:sp>
      <p:sp>
        <p:nvSpPr>
          <p:cNvPr id="205" name="t205"/>
          <p:cNvSpPr txBox="1"/>
          <p:nvPr/>
        </p:nvSpPr>
        <p:spPr>
          <a:xfrm>
            <a:off x="6781800" y="4438650"/>
            <a:ext cx="4724400" cy="1600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900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Abierta, online</a:t>
            </a:r>
          </a:p>
        </p:txBody>
      </p:sp>
      <p:sp>
        <p:nvSpPr>
          <p:cNvPr id="206" name="r206"/>
          <p:cNvSpPr/>
          <p:nvPr/>
        </p:nvSpPr>
        <p:spPr>
          <a:xfrm>
            <a:off x="685800" y="4705350"/>
            <a:ext cx="10820400" cy="9525"/>
          </a:xfrm>
          <a:prstGeom prst="rect">
            <a:avLst/>
          </a:prstGeom>
          <a:solidFill>
            <a:srgbClr val="2E2C2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t207"/>
          <p:cNvSpPr txBox="1"/>
          <p:nvPr/>
        </p:nvSpPr>
        <p:spPr>
          <a:xfrm>
            <a:off x="685800" y="4838700"/>
            <a:ext cx="38100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2E9BFF"/>
                </a:solidFill>
                <a:latin typeface="DM Mono"/>
                <a:cs typeface="DM Mono"/>
              </a:rPr>
              <a:t>09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1943100" y="4800600"/>
            <a:ext cx="32385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F2EFE9"/>
                </a:solidFill>
                <a:latin typeface="Fredoka"/>
                <a:cs typeface="Fredoka"/>
              </a:rPr>
              <a:t>Construcción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6781800" y="4838700"/>
            <a:ext cx="4724400" cy="1600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900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Objetos reales, soldaduras reales</a:t>
            </a:r>
          </a:p>
        </p:txBody>
      </p:sp>
      <p:sp>
        <p:nvSpPr>
          <p:cNvPr id="210" name="r210"/>
          <p:cNvSpPr/>
          <p:nvPr/>
        </p:nvSpPr>
        <p:spPr>
          <a:xfrm>
            <a:off x="685800" y="5105400"/>
            <a:ext cx="10820400" cy="9525"/>
          </a:xfrm>
          <a:prstGeom prst="rect">
            <a:avLst/>
          </a:prstGeom>
          <a:solidFill>
            <a:srgbClr val="2E2C2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t211"/>
          <p:cNvSpPr txBox="1"/>
          <p:nvPr/>
        </p:nvSpPr>
        <p:spPr>
          <a:xfrm>
            <a:off x="685800" y="5238750"/>
            <a:ext cx="38100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2E9BFF"/>
                </a:solidFill>
                <a:latin typeface="DM Mono"/>
                <a:cs typeface="DM Mono"/>
              </a:rPr>
              <a:t>10</a:t>
            </a:r>
          </a:p>
        </p:txBody>
      </p:sp>
      <p:sp>
        <p:nvSpPr>
          <p:cNvPr id="212" name="t212"/>
          <p:cNvSpPr txBox="1"/>
          <p:nvPr/>
        </p:nvSpPr>
        <p:spPr>
          <a:xfrm>
            <a:off x="2038350" y="5200650"/>
            <a:ext cx="32385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F2EFE9"/>
                </a:solidFill>
                <a:latin typeface="Fredoka"/>
                <a:cs typeface="Fredoka"/>
              </a:rPr>
              <a:t>Inauguración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6781800" y="5238750"/>
            <a:ext cx="4724400" cy="1600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900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Permanente o temporal</a:t>
            </a:r>
          </a:p>
        </p:txBody>
      </p:sp>
      <p:sp>
        <p:nvSpPr>
          <p:cNvPr id="214" name="r214"/>
          <p:cNvSpPr/>
          <p:nvPr/>
        </p:nvSpPr>
        <p:spPr>
          <a:xfrm>
            <a:off x="685800" y="5505450"/>
            <a:ext cx="10820400" cy="9525"/>
          </a:xfrm>
          <a:prstGeom prst="rect">
            <a:avLst/>
          </a:prstGeom>
          <a:solidFill>
            <a:srgbClr val="2E2C29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3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215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FFE500"/>
                </a:solidFill>
                <a:latin typeface="DM Mono"/>
                <a:cs typeface="DM Mono"/>
              </a:rPr>
              <a:t>10</a:t>
            </a:r>
            <a:r>
              <a:rPr lang="es-AR" sz="825" b="0" i="0" spc="149" dirty="0">
                <a:solidFill>
                  <a:srgbClr val="C3B0F5"/>
                </a:solidFill>
                <a:latin typeface="DM Mono"/>
                <a:cs typeface="DM Mono"/>
              </a:rPr>
              <a:t>   LA EXPERIENCIA</a:t>
            </a:r>
          </a:p>
        </p:txBody>
      </p:sp>
      <p:sp>
        <p:nvSpPr>
          <p:cNvPr id="216" name="t216"/>
          <p:cNvSpPr txBox="1"/>
          <p:nvPr/>
        </p:nvSpPr>
        <p:spPr>
          <a:xfrm>
            <a:off x="685800" y="1143000"/>
            <a:ext cx="8572500" cy="6134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3450" b="1" i="0" dirty="0">
                <a:solidFill>
                  <a:srgbClr val="F2EFE9"/>
                </a:solidFill>
                <a:latin typeface="Fredoka"/>
                <a:cs typeface="Fredoka"/>
              </a:rPr>
              <a:t>Dentro del happening</a:t>
            </a:r>
          </a:p>
        </p:txBody>
      </p:sp>
      <p:sp>
        <p:nvSpPr>
          <p:cNvPr id="217" name="t217"/>
          <p:cNvSpPr txBox="1"/>
          <p:nvPr/>
        </p:nvSpPr>
        <p:spPr>
          <a:xfrm>
            <a:off x="685800" y="2209800"/>
            <a:ext cx="2533650" cy="720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s-AR" sz="4050" b="0" i="0" dirty="0">
                <a:solidFill>
                  <a:srgbClr val="FFE500"/>
                </a:solidFill>
                <a:latin typeface="Bagel Fat One"/>
                <a:cs typeface="Bagel Fat One"/>
              </a:rPr>
              <a:t>10–15</a:t>
            </a:r>
          </a:p>
        </p:txBody>
      </p:sp>
      <p:sp>
        <p:nvSpPr>
          <p:cNvPr id="218" name="t218"/>
          <p:cNvSpPr txBox="1"/>
          <p:nvPr/>
        </p:nvSpPr>
        <p:spPr>
          <a:xfrm>
            <a:off x="685800" y="2914650"/>
            <a:ext cx="253365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s-AR" sz="788" b="0" i="0" spc="126" dirty="0">
                <a:solidFill>
                  <a:srgbClr val="C3B0F5"/>
                </a:solidFill>
                <a:latin typeface="DM Mono"/>
                <a:cs typeface="DM Mono"/>
              </a:rPr>
              <a:t>PERSONAS POR GRUPO</a:t>
            </a:r>
          </a:p>
        </p:txBody>
      </p:sp>
      <p:sp>
        <p:nvSpPr>
          <p:cNvPr id="219" name="t219"/>
          <p:cNvSpPr txBox="1"/>
          <p:nvPr/>
        </p:nvSpPr>
        <p:spPr>
          <a:xfrm>
            <a:off x="3448050" y="2209800"/>
            <a:ext cx="2533650" cy="720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s-AR" sz="4050" b="0" i="0" dirty="0">
                <a:solidFill>
                  <a:srgbClr val="FFE500"/>
                </a:solidFill>
                <a:latin typeface="Bagel Fat One"/>
                <a:cs typeface="Bagel Fat One"/>
              </a:rPr>
              <a:t>1:1</a:t>
            </a:r>
          </a:p>
        </p:txBody>
      </p:sp>
      <p:sp>
        <p:nvSpPr>
          <p:cNvPr id="220" name="t220"/>
          <p:cNvSpPr txBox="1"/>
          <p:nvPr/>
        </p:nvSpPr>
        <p:spPr>
          <a:xfrm>
            <a:off x="3448050" y="2914650"/>
            <a:ext cx="253365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s-AR" sz="788" b="0" i="0" spc="126" dirty="0">
                <a:solidFill>
                  <a:srgbClr val="C3B0F5"/>
                </a:solidFill>
                <a:latin typeface="DM Mono"/>
                <a:cs typeface="DM Mono"/>
              </a:rPr>
              <a:t>ESCALA REAL, SIN REDIMENSIONAR</a:t>
            </a:r>
          </a:p>
        </p:txBody>
      </p:sp>
      <p:sp>
        <p:nvSpPr>
          <p:cNvPr id="221" name="t221"/>
          <p:cNvSpPr txBox="1"/>
          <p:nvPr/>
        </p:nvSpPr>
        <p:spPr>
          <a:xfrm>
            <a:off x="6210300" y="2209800"/>
            <a:ext cx="2533650" cy="720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s-AR" sz="4050" b="0" i="0" dirty="0">
                <a:solidFill>
                  <a:srgbClr val="FFE500"/>
                </a:solidFill>
                <a:latin typeface="Bagel Fat One"/>
                <a:cs typeface="Bagel Fat One"/>
              </a:rPr>
              <a:t>0</a:t>
            </a:r>
          </a:p>
        </p:txBody>
      </p:sp>
      <p:sp>
        <p:nvSpPr>
          <p:cNvPr id="222" name="t222"/>
          <p:cNvSpPr txBox="1"/>
          <p:nvPr/>
        </p:nvSpPr>
        <p:spPr>
          <a:xfrm>
            <a:off x="6210300" y="2914650"/>
            <a:ext cx="253365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s-AR" sz="788" b="0" i="0" spc="126" dirty="0">
                <a:solidFill>
                  <a:srgbClr val="C3B0F5"/>
                </a:solidFill>
                <a:latin typeface="DM Mono"/>
                <a:cs typeface="DM Mono"/>
              </a:rPr>
              <a:t>CONTROLES — SOLO MANOS</a:t>
            </a:r>
          </a:p>
        </p:txBody>
      </p:sp>
      <p:sp>
        <p:nvSpPr>
          <p:cNvPr id="223" name="t223"/>
          <p:cNvSpPr txBox="1"/>
          <p:nvPr/>
        </p:nvSpPr>
        <p:spPr>
          <a:xfrm>
            <a:off x="8972550" y="2209800"/>
            <a:ext cx="2533650" cy="7200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s-AR" sz="4050" b="0" i="0" dirty="0">
                <a:solidFill>
                  <a:srgbClr val="FFE500"/>
                </a:solidFill>
                <a:latin typeface="Bagel Fat One"/>
                <a:cs typeface="Bagel Fat One"/>
              </a:rPr>
              <a:t>20–30</a:t>
            </a:r>
          </a:p>
        </p:txBody>
      </p:sp>
      <p:sp>
        <p:nvSpPr>
          <p:cNvPr id="224" name="t224"/>
          <p:cNvSpPr txBox="1"/>
          <p:nvPr/>
        </p:nvSpPr>
        <p:spPr>
          <a:xfrm>
            <a:off x="8972550" y="2914650"/>
            <a:ext cx="253365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s-AR" sz="788" b="0" i="0" spc="126" dirty="0">
                <a:solidFill>
                  <a:srgbClr val="C3B0F5"/>
                </a:solidFill>
                <a:latin typeface="DM Mono"/>
                <a:cs typeface="DM Mono"/>
              </a:rPr>
              <a:t>OBJETOS EN LA BIBLIOTECA</a:t>
            </a:r>
          </a:p>
        </p:txBody>
      </p:sp>
      <p:sp>
        <p:nvSpPr>
          <p:cNvPr id="225" name="r225"/>
          <p:cNvSpPr/>
          <p:nvPr/>
        </p:nvSpPr>
        <p:spPr>
          <a:xfrm>
            <a:off x="685800" y="3771900"/>
            <a:ext cx="10820400" cy="1238250"/>
          </a:xfrm>
          <a:prstGeom prst="roundRect">
            <a:avLst>
              <a:gd name="adj" fmla="val 14000"/>
            </a:avLst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t226"/>
          <p:cNvSpPr txBox="1"/>
          <p:nvPr/>
        </p:nvSpPr>
        <p:spPr>
          <a:xfrm>
            <a:off x="1009650" y="4076700"/>
            <a:ext cx="101727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250" b="1" i="0" dirty="0">
                <a:solidFill>
                  <a:srgbClr val="0D0C0B"/>
                </a:solidFill>
                <a:latin typeface="Fredoka"/>
                <a:cs typeface="Fredoka"/>
              </a:rPr>
              <a:t>Una heladera no la movés solo. A escala real, colaborar deja de ser una idea y se vuelve físico.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3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227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FFE500"/>
                </a:solidFill>
                <a:latin typeface="DM Mono"/>
                <a:cs typeface="DM Mono"/>
              </a:rPr>
              <a:t>11</a:t>
            </a:r>
            <a:r>
              <a:rPr lang="es-AR" sz="825" b="0" i="0" spc="149" dirty="0">
                <a:solidFill>
                  <a:srgbClr val="C3B0F5"/>
                </a:solidFill>
                <a:latin typeface="DM Mono"/>
                <a:cs typeface="DM Mono"/>
              </a:rPr>
              <a:t>   LA EXPERIENCIA</a:t>
            </a:r>
          </a:p>
        </p:txBody>
      </p:sp>
      <p:sp>
        <p:nvSpPr>
          <p:cNvPr id="228" name="t228"/>
          <p:cNvSpPr txBox="1"/>
          <p:nvPr/>
        </p:nvSpPr>
        <p:spPr>
          <a:xfrm>
            <a:off x="685800" y="1143000"/>
            <a:ext cx="7620000" cy="6134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3450" b="1" i="0" dirty="0">
                <a:solidFill>
                  <a:srgbClr val="F2EFE9"/>
                </a:solidFill>
                <a:latin typeface="Fredoka"/>
                <a:cs typeface="Fredoka"/>
              </a:rPr>
              <a:t>El cinturón</a:t>
            </a:r>
          </a:p>
        </p:txBody>
      </p:sp>
      <p:sp>
        <p:nvSpPr>
          <p:cNvPr id="229" name="t229"/>
          <p:cNvSpPr txBox="1"/>
          <p:nvPr/>
        </p:nvSpPr>
        <p:spPr>
          <a:xfrm>
            <a:off x="685800" y="1905000"/>
            <a:ext cx="7239000" cy="2266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lang="es-AR" sz="1275" b="0" i="0" dirty="0">
                <a:solidFill>
                  <a:srgbClr val="F2EFE9"/>
                </a:solidFill>
                <a:latin typeface="Bricolage Grotesque"/>
                <a:cs typeface="Bricolage Grotesque"/>
              </a:rPr>
              <a:t>Herramientas lúdicas, casi absurdas. Probás rápido con cinta, te comprometés con la soldadora.</a:t>
            </a:r>
          </a:p>
        </p:txBody>
      </p:sp>
      <p:sp>
        <p:nvSpPr>
          <p:cNvPr id="230" name="r230"/>
          <p:cNvSpPr/>
          <p:nvPr/>
        </p:nvSpPr>
        <p:spPr>
          <a:xfrm>
            <a:off x="685800" y="2857500"/>
            <a:ext cx="1428750" cy="7429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2EFE9"/>
            </a:solidFill>
          </a:ln>
        </p:spPr>
        <p:txBody>
          <a:bodyPr/>
          <a:lstStyle/>
          <a:p/>
        </p:txBody>
      </p:sp>
      <p:sp>
        <p:nvSpPr>
          <p:cNvPr id="231" name="t231"/>
          <p:cNvSpPr txBox="1"/>
          <p:nvPr/>
        </p:nvSpPr>
        <p:spPr>
          <a:xfrm>
            <a:off x="895350" y="3009900"/>
            <a:ext cx="1009650" cy="2800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575" b="1" i="0" dirty="0">
                <a:solidFill>
                  <a:srgbClr val="F2EFE9"/>
                </a:solidFill>
                <a:latin typeface="Fredoka"/>
                <a:cs typeface="Fredoka"/>
              </a:rPr>
              <a:t>Cinta</a:t>
            </a:r>
          </a:p>
        </p:txBody>
      </p:sp>
      <p:sp>
        <p:nvSpPr>
          <p:cNvPr id="232" name="t232"/>
          <p:cNvSpPr txBox="1"/>
          <p:nvPr/>
        </p:nvSpPr>
        <p:spPr>
          <a:xfrm>
            <a:off x="895350" y="3314700"/>
            <a:ext cx="1009650" cy="1200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75" b="0" i="0" spc="95" dirty="0">
                <a:solidFill>
                  <a:srgbClr val="C3B0F5"/>
                </a:solidFill>
                <a:latin typeface="DM Mono"/>
                <a:cs typeface="DM Mono"/>
              </a:rPr>
              <a:t>PROVISORIO</a:t>
            </a:r>
          </a:p>
        </p:txBody>
      </p:sp>
      <p:sp>
        <p:nvSpPr>
          <p:cNvPr id="233" name="r233"/>
          <p:cNvSpPr/>
          <p:nvPr/>
        </p:nvSpPr>
        <p:spPr>
          <a:xfrm>
            <a:off x="2247900" y="2857500"/>
            <a:ext cx="1685925" cy="7429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2EFE9"/>
            </a:solidFill>
          </a:ln>
        </p:spPr>
        <p:txBody>
          <a:bodyPr/>
          <a:lstStyle/>
          <a:p/>
        </p:txBody>
      </p:sp>
      <p:sp>
        <p:nvSpPr>
          <p:cNvPr id="234" name="t234"/>
          <p:cNvSpPr txBox="1"/>
          <p:nvPr/>
        </p:nvSpPr>
        <p:spPr>
          <a:xfrm>
            <a:off x="2457450" y="3009900"/>
            <a:ext cx="1266825" cy="2800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575" b="1" i="0" dirty="0">
                <a:solidFill>
                  <a:srgbClr val="F2EFE9"/>
                </a:solidFill>
                <a:latin typeface="Fredoka"/>
                <a:cs typeface="Fredoka"/>
              </a:rPr>
              <a:t>Soldadora</a:t>
            </a:r>
          </a:p>
        </p:txBody>
      </p:sp>
      <p:sp>
        <p:nvSpPr>
          <p:cNvPr id="235" name="t235"/>
          <p:cNvSpPr txBox="1"/>
          <p:nvPr/>
        </p:nvSpPr>
        <p:spPr>
          <a:xfrm>
            <a:off x="2457450" y="3314700"/>
            <a:ext cx="1266825" cy="1200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75" b="0" i="0" spc="95" dirty="0">
                <a:solidFill>
                  <a:srgbClr val="C3B0F5"/>
                </a:solidFill>
                <a:latin typeface="DM Mono"/>
                <a:cs typeface="DM Mono"/>
              </a:rPr>
              <a:t>DEFINITIVO</a:t>
            </a:r>
          </a:p>
        </p:txBody>
      </p:sp>
      <p:sp>
        <p:nvSpPr>
          <p:cNvPr id="236" name="r236"/>
          <p:cNvSpPr/>
          <p:nvPr/>
        </p:nvSpPr>
        <p:spPr>
          <a:xfrm>
            <a:off x="4067175" y="2857500"/>
            <a:ext cx="1438275" cy="7429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2EFE9"/>
            </a:solidFill>
          </a:ln>
        </p:spPr>
        <p:txBody>
          <a:bodyPr/>
          <a:lstStyle/>
          <a:p/>
        </p:txBody>
      </p:sp>
      <p:sp>
        <p:nvSpPr>
          <p:cNvPr id="237" name="t237"/>
          <p:cNvSpPr txBox="1"/>
          <p:nvPr/>
        </p:nvSpPr>
        <p:spPr>
          <a:xfrm>
            <a:off x="4276725" y="3009900"/>
            <a:ext cx="1019175" cy="2800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575" b="1" i="0" dirty="0">
                <a:solidFill>
                  <a:srgbClr val="F2EFE9"/>
                </a:solidFill>
                <a:latin typeface="Fredoka"/>
                <a:cs typeface="Fredoka"/>
              </a:rPr>
              <a:t>Relleno</a:t>
            </a:r>
          </a:p>
        </p:txBody>
      </p:sp>
      <p:sp>
        <p:nvSpPr>
          <p:cNvPr id="238" name="t238"/>
          <p:cNvSpPr txBox="1"/>
          <p:nvPr/>
        </p:nvSpPr>
        <p:spPr>
          <a:xfrm>
            <a:off x="4276725" y="3314700"/>
            <a:ext cx="1019175" cy="1200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75" b="0" i="0" spc="95" dirty="0">
                <a:solidFill>
                  <a:srgbClr val="C3B0F5"/>
                </a:solidFill>
                <a:latin typeface="DM Mono"/>
                <a:cs typeface="DM Mono"/>
              </a:rPr>
              <a:t>ESPACIOS VACÍOS</a:t>
            </a:r>
          </a:p>
        </p:txBody>
      </p:sp>
      <p:sp>
        <p:nvSpPr>
          <p:cNvPr id="239" name="r239"/>
          <p:cNvSpPr/>
          <p:nvPr/>
        </p:nvSpPr>
        <p:spPr>
          <a:xfrm>
            <a:off x="5638800" y="2857500"/>
            <a:ext cx="1438275" cy="7429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2EFE9"/>
            </a:solidFill>
          </a:ln>
        </p:spPr>
        <p:txBody>
          <a:bodyPr/>
          <a:lstStyle/>
          <a:p/>
        </p:txBody>
      </p:sp>
      <p:sp>
        <p:nvSpPr>
          <p:cNvPr id="240" name="t240"/>
          <p:cNvSpPr txBox="1"/>
          <p:nvPr/>
        </p:nvSpPr>
        <p:spPr>
          <a:xfrm>
            <a:off x="5848350" y="3009900"/>
            <a:ext cx="1019175" cy="2800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575" b="1" i="0" dirty="0">
                <a:solidFill>
                  <a:srgbClr val="F2EFE9"/>
                </a:solidFill>
                <a:latin typeface="Fredoka"/>
                <a:cs typeface="Fredoka"/>
              </a:rPr>
              <a:t>Aerosol</a:t>
            </a:r>
          </a:p>
        </p:txBody>
      </p:sp>
      <p:sp>
        <p:nvSpPr>
          <p:cNvPr id="241" name="t241"/>
          <p:cNvSpPr txBox="1"/>
          <p:nvPr/>
        </p:nvSpPr>
        <p:spPr>
          <a:xfrm>
            <a:off x="5848350" y="3314700"/>
            <a:ext cx="1019175" cy="1200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75" b="0" i="0" spc="95" dirty="0">
                <a:solidFill>
                  <a:srgbClr val="C3B0F5"/>
                </a:solidFill>
                <a:latin typeface="DM Mono"/>
                <a:cs typeface="DM Mono"/>
              </a:rPr>
              <a:t>PALETA DE CIUDAD</a:t>
            </a:r>
          </a:p>
        </p:txBody>
      </p:sp>
      <p:sp>
        <p:nvSpPr>
          <p:cNvPr id="242" name="r242"/>
          <p:cNvSpPr/>
          <p:nvPr/>
        </p:nvSpPr>
        <p:spPr>
          <a:xfrm>
            <a:off x="7210425" y="2857500"/>
            <a:ext cx="1428750" cy="74295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2EFE9"/>
            </a:solidFill>
          </a:ln>
        </p:spPr>
        <p:txBody>
          <a:bodyPr/>
          <a:lstStyle/>
          <a:p/>
        </p:txBody>
      </p:sp>
      <p:sp>
        <p:nvSpPr>
          <p:cNvPr id="243" name="t243"/>
          <p:cNvSpPr txBox="1"/>
          <p:nvPr/>
        </p:nvSpPr>
        <p:spPr>
          <a:xfrm>
            <a:off x="7419975" y="3009900"/>
            <a:ext cx="1009650" cy="28003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575" b="1" i="0" dirty="0">
                <a:solidFill>
                  <a:srgbClr val="F2EFE9"/>
                </a:solidFill>
                <a:latin typeface="Fredoka"/>
                <a:cs typeface="Fredoka"/>
              </a:rPr>
              <a:t>Firma</a:t>
            </a:r>
          </a:p>
        </p:txBody>
      </p:sp>
      <p:sp>
        <p:nvSpPr>
          <p:cNvPr id="244" name="t244"/>
          <p:cNvSpPr txBox="1"/>
          <p:nvPr/>
        </p:nvSpPr>
        <p:spPr>
          <a:xfrm>
            <a:off x="7419975" y="3314700"/>
            <a:ext cx="1009650" cy="12001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75" b="0" i="0" spc="95" dirty="0">
                <a:solidFill>
                  <a:srgbClr val="C3B0F5"/>
                </a:solidFill>
                <a:latin typeface="DM Mono"/>
                <a:cs typeface="DM Mono"/>
              </a:rPr>
              <a:t>EL GRUPO FIRMA</a:t>
            </a:r>
          </a:p>
        </p:txBody>
      </p:sp>
      <p:sp>
        <p:nvSpPr>
          <p:cNvPr id="245" name="r245"/>
          <p:cNvSpPr/>
          <p:nvPr/>
        </p:nvSpPr>
        <p:spPr>
          <a:xfrm>
            <a:off x="685800" y="4038600"/>
            <a:ext cx="10820400" cy="1238250"/>
          </a:xfrm>
          <a:prstGeom prst="roundRect">
            <a:avLst>
              <a:gd name="adj" fmla="val 9000"/>
            </a:avLst>
          </a:prstGeom>
          <a:noFill/>
          <a:ln w="1905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46" name="t246"/>
          <p:cNvSpPr txBox="1"/>
          <p:nvPr/>
        </p:nvSpPr>
        <p:spPr>
          <a:xfrm>
            <a:off x="685800" y="45720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</a:pPr>
            <a:r>
              <a:rPr lang="es-AR" sz="825" b="0" i="0" spc="132" dirty="0">
                <a:solidFill>
                  <a:srgbClr val="C3B0F5"/>
                </a:solidFill>
                <a:latin typeface="DM Mono"/>
                <a:cs typeface="DM Mono"/>
              </a:rPr>
              <a:t>[ img — el cinturón visto desde dentro del casco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3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247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FFE500"/>
                </a:solidFill>
                <a:latin typeface="DM Mono"/>
                <a:cs typeface="DM Mono"/>
              </a:rPr>
              <a:t>12</a:t>
            </a:r>
            <a:r>
              <a:rPr lang="es-AR" sz="825" b="0" i="0" spc="149" dirty="0">
                <a:solidFill>
                  <a:srgbClr val="C3B0F5"/>
                </a:solidFill>
                <a:latin typeface="DM Mono"/>
                <a:cs typeface="DM Mono"/>
              </a:rPr>
              <a:t>   LA EXPERIENCIA</a:t>
            </a:r>
          </a:p>
        </p:txBody>
      </p:sp>
      <p:sp>
        <p:nvSpPr>
          <p:cNvPr id="248" name="t248"/>
          <p:cNvSpPr txBox="1"/>
          <p:nvPr/>
        </p:nvSpPr>
        <p:spPr>
          <a:xfrm>
            <a:off x="685800" y="1047750"/>
            <a:ext cx="9525000" cy="586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lang="es-AR" sz="3300" b="1" i="0" dirty="0">
                <a:solidFill>
                  <a:srgbClr val="F2EFE9"/>
                </a:solidFill>
                <a:latin typeface="Fredoka"/>
                <a:cs typeface="Fredoka"/>
              </a:rPr>
              <a:t>Los mismos objetos. Treinta resultados.</a:t>
            </a:r>
          </a:p>
        </p:txBody>
      </p:sp>
      <p:sp>
        <p:nvSpPr>
          <p:cNvPr id="249" name="t249"/>
          <p:cNvSpPr txBox="1"/>
          <p:nvPr/>
        </p:nvSpPr>
        <p:spPr>
          <a:xfrm>
            <a:off x="685800" y="1866900"/>
            <a:ext cx="7239000" cy="2266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lang="es-AR" sz="1275" b="0" i="0" dirty="0">
                <a:solidFill>
                  <a:srgbClr val="F2EFE9"/>
                </a:solidFill>
                <a:latin typeface="Bricolage Grotesque"/>
                <a:cs typeface="Bricolage Grotesque"/>
              </a:rPr>
              <a:t>Misma biblioteca, mismos límites físicos. No hay dos esculturas iguales.</a:t>
            </a:r>
          </a:p>
        </p:txBody>
      </p:sp>
      <p:sp>
        <p:nvSpPr>
          <p:cNvPr id="250" name="r250"/>
          <p:cNvSpPr/>
          <p:nvPr/>
        </p:nvSpPr>
        <p:spPr>
          <a:xfrm>
            <a:off x="685800" y="25527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51" name="t251"/>
          <p:cNvSpPr txBox="1"/>
          <p:nvPr/>
        </p:nvSpPr>
        <p:spPr>
          <a:xfrm>
            <a:off x="752475" y="26098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01</a:t>
            </a:r>
          </a:p>
        </p:txBody>
      </p:sp>
      <p:sp>
        <p:nvSpPr>
          <p:cNvPr id="252" name="r252"/>
          <p:cNvSpPr/>
          <p:nvPr/>
        </p:nvSpPr>
        <p:spPr>
          <a:xfrm>
            <a:off x="1352550" y="25527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53" name="t253"/>
          <p:cNvSpPr txBox="1"/>
          <p:nvPr/>
        </p:nvSpPr>
        <p:spPr>
          <a:xfrm>
            <a:off x="1419225" y="26098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02</a:t>
            </a:r>
          </a:p>
        </p:txBody>
      </p:sp>
      <p:sp>
        <p:nvSpPr>
          <p:cNvPr id="254" name="r254"/>
          <p:cNvSpPr/>
          <p:nvPr/>
        </p:nvSpPr>
        <p:spPr>
          <a:xfrm>
            <a:off x="2019300" y="25527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55" name="t255"/>
          <p:cNvSpPr txBox="1"/>
          <p:nvPr/>
        </p:nvSpPr>
        <p:spPr>
          <a:xfrm>
            <a:off x="2085975" y="26098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03</a:t>
            </a:r>
          </a:p>
        </p:txBody>
      </p:sp>
      <p:sp>
        <p:nvSpPr>
          <p:cNvPr id="256" name="r256"/>
          <p:cNvSpPr/>
          <p:nvPr/>
        </p:nvSpPr>
        <p:spPr>
          <a:xfrm>
            <a:off x="2686050" y="25527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57" name="t257"/>
          <p:cNvSpPr txBox="1"/>
          <p:nvPr/>
        </p:nvSpPr>
        <p:spPr>
          <a:xfrm>
            <a:off x="2752725" y="26098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04</a:t>
            </a:r>
          </a:p>
        </p:txBody>
      </p:sp>
      <p:sp>
        <p:nvSpPr>
          <p:cNvPr id="258" name="r258"/>
          <p:cNvSpPr/>
          <p:nvPr/>
        </p:nvSpPr>
        <p:spPr>
          <a:xfrm>
            <a:off x="3352800" y="25527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59" name="t259"/>
          <p:cNvSpPr txBox="1"/>
          <p:nvPr/>
        </p:nvSpPr>
        <p:spPr>
          <a:xfrm>
            <a:off x="3419475" y="26098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05</a:t>
            </a:r>
          </a:p>
        </p:txBody>
      </p:sp>
      <p:sp>
        <p:nvSpPr>
          <p:cNvPr id="260" name="r260"/>
          <p:cNvSpPr/>
          <p:nvPr/>
        </p:nvSpPr>
        <p:spPr>
          <a:xfrm>
            <a:off x="4019550" y="25527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61" name="t261"/>
          <p:cNvSpPr txBox="1"/>
          <p:nvPr/>
        </p:nvSpPr>
        <p:spPr>
          <a:xfrm>
            <a:off x="4086225" y="26098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06</a:t>
            </a:r>
          </a:p>
        </p:txBody>
      </p:sp>
      <p:sp>
        <p:nvSpPr>
          <p:cNvPr id="262" name="r262"/>
          <p:cNvSpPr/>
          <p:nvPr/>
        </p:nvSpPr>
        <p:spPr>
          <a:xfrm>
            <a:off x="4686300" y="25527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63" name="t263"/>
          <p:cNvSpPr txBox="1"/>
          <p:nvPr/>
        </p:nvSpPr>
        <p:spPr>
          <a:xfrm>
            <a:off x="4752975" y="26098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07</a:t>
            </a:r>
          </a:p>
        </p:txBody>
      </p:sp>
      <p:sp>
        <p:nvSpPr>
          <p:cNvPr id="264" name="r264"/>
          <p:cNvSpPr/>
          <p:nvPr/>
        </p:nvSpPr>
        <p:spPr>
          <a:xfrm>
            <a:off x="5353050" y="25527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65" name="t265"/>
          <p:cNvSpPr txBox="1"/>
          <p:nvPr/>
        </p:nvSpPr>
        <p:spPr>
          <a:xfrm>
            <a:off x="5419725" y="26098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08</a:t>
            </a:r>
          </a:p>
        </p:txBody>
      </p:sp>
      <p:sp>
        <p:nvSpPr>
          <p:cNvPr id="266" name="r266"/>
          <p:cNvSpPr/>
          <p:nvPr/>
        </p:nvSpPr>
        <p:spPr>
          <a:xfrm>
            <a:off x="6019800" y="25527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67" name="t267"/>
          <p:cNvSpPr txBox="1"/>
          <p:nvPr/>
        </p:nvSpPr>
        <p:spPr>
          <a:xfrm>
            <a:off x="6086475" y="26098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09</a:t>
            </a:r>
          </a:p>
        </p:txBody>
      </p:sp>
      <p:sp>
        <p:nvSpPr>
          <p:cNvPr id="268" name="r268"/>
          <p:cNvSpPr/>
          <p:nvPr/>
        </p:nvSpPr>
        <p:spPr>
          <a:xfrm>
            <a:off x="6686550" y="25527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69" name="t269"/>
          <p:cNvSpPr txBox="1"/>
          <p:nvPr/>
        </p:nvSpPr>
        <p:spPr>
          <a:xfrm>
            <a:off x="6753225" y="26098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10</a:t>
            </a:r>
          </a:p>
        </p:txBody>
      </p:sp>
      <p:sp>
        <p:nvSpPr>
          <p:cNvPr id="270" name="r270"/>
          <p:cNvSpPr/>
          <p:nvPr/>
        </p:nvSpPr>
        <p:spPr>
          <a:xfrm>
            <a:off x="685800" y="321945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71" name="t271"/>
          <p:cNvSpPr txBox="1"/>
          <p:nvPr/>
        </p:nvSpPr>
        <p:spPr>
          <a:xfrm>
            <a:off x="752475" y="327660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11</a:t>
            </a:r>
          </a:p>
        </p:txBody>
      </p:sp>
      <p:sp>
        <p:nvSpPr>
          <p:cNvPr id="272" name="r272"/>
          <p:cNvSpPr/>
          <p:nvPr/>
        </p:nvSpPr>
        <p:spPr>
          <a:xfrm>
            <a:off x="1352550" y="321945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73" name="t273"/>
          <p:cNvSpPr txBox="1"/>
          <p:nvPr/>
        </p:nvSpPr>
        <p:spPr>
          <a:xfrm>
            <a:off x="1419225" y="327660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12</a:t>
            </a:r>
          </a:p>
        </p:txBody>
      </p:sp>
      <p:sp>
        <p:nvSpPr>
          <p:cNvPr id="274" name="r274"/>
          <p:cNvSpPr/>
          <p:nvPr/>
        </p:nvSpPr>
        <p:spPr>
          <a:xfrm>
            <a:off x="2019300" y="321945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75" name="t275"/>
          <p:cNvSpPr txBox="1"/>
          <p:nvPr/>
        </p:nvSpPr>
        <p:spPr>
          <a:xfrm>
            <a:off x="2085975" y="327660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13</a:t>
            </a:r>
          </a:p>
        </p:txBody>
      </p:sp>
      <p:sp>
        <p:nvSpPr>
          <p:cNvPr id="276" name="r276"/>
          <p:cNvSpPr/>
          <p:nvPr/>
        </p:nvSpPr>
        <p:spPr>
          <a:xfrm>
            <a:off x="2686050" y="321945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77" name="t277"/>
          <p:cNvSpPr txBox="1"/>
          <p:nvPr/>
        </p:nvSpPr>
        <p:spPr>
          <a:xfrm>
            <a:off x="2752725" y="327660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14</a:t>
            </a:r>
          </a:p>
        </p:txBody>
      </p:sp>
      <p:sp>
        <p:nvSpPr>
          <p:cNvPr id="278" name="r278"/>
          <p:cNvSpPr/>
          <p:nvPr/>
        </p:nvSpPr>
        <p:spPr>
          <a:xfrm>
            <a:off x="3352800" y="321945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79" name="t279"/>
          <p:cNvSpPr txBox="1"/>
          <p:nvPr/>
        </p:nvSpPr>
        <p:spPr>
          <a:xfrm>
            <a:off x="3419475" y="327660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15</a:t>
            </a:r>
          </a:p>
        </p:txBody>
      </p:sp>
      <p:sp>
        <p:nvSpPr>
          <p:cNvPr id="280" name="r280"/>
          <p:cNvSpPr/>
          <p:nvPr/>
        </p:nvSpPr>
        <p:spPr>
          <a:xfrm>
            <a:off x="4019550" y="321945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81" name="t281"/>
          <p:cNvSpPr txBox="1"/>
          <p:nvPr/>
        </p:nvSpPr>
        <p:spPr>
          <a:xfrm>
            <a:off x="4086225" y="327660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16</a:t>
            </a:r>
          </a:p>
        </p:txBody>
      </p:sp>
      <p:sp>
        <p:nvSpPr>
          <p:cNvPr id="282" name="r282"/>
          <p:cNvSpPr/>
          <p:nvPr/>
        </p:nvSpPr>
        <p:spPr>
          <a:xfrm>
            <a:off x="4686300" y="3219450"/>
            <a:ext cx="590550" cy="590550"/>
          </a:xfrm>
          <a:prstGeom prst="roundRect">
            <a:avLst>
              <a:gd name="adj" fmla="val 14000"/>
            </a:avLst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t283"/>
          <p:cNvSpPr txBox="1"/>
          <p:nvPr/>
        </p:nvSpPr>
        <p:spPr>
          <a:xfrm>
            <a:off x="4752975" y="327660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0D0C0B"/>
                </a:solidFill>
                <a:latin typeface="DM Mono"/>
                <a:cs typeface="DM Mono"/>
              </a:rPr>
              <a:t>17</a:t>
            </a:r>
          </a:p>
        </p:txBody>
      </p:sp>
      <p:sp>
        <p:nvSpPr>
          <p:cNvPr id="284" name="r284"/>
          <p:cNvSpPr/>
          <p:nvPr/>
        </p:nvSpPr>
        <p:spPr>
          <a:xfrm>
            <a:off x="5353050" y="321945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85" name="t285"/>
          <p:cNvSpPr txBox="1"/>
          <p:nvPr/>
        </p:nvSpPr>
        <p:spPr>
          <a:xfrm>
            <a:off x="5419725" y="327660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18</a:t>
            </a:r>
          </a:p>
        </p:txBody>
      </p:sp>
      <p:sp>
        <p:nvSpPr>
          <p:cNvPr id="286" name="r286"/>
          <p:cNvSpPr/>
          <p:nvPr/>
        </p:nvSpPr>
        <p:spPr>
          <a:xfrm>
            <a:off x="6019800" y="321945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87" name="t287"/>
          <p:cNvSpPr txBox="1"/>
          <p:nvPr/>
        </p:nvSpPr>
        <p:spPr>
          <a:xfrm>
            <a:off x="6086475" y="327660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19</a:t>
            </a:r>
          </a:p>
        </p:txBody>
      </p:sp>
      <p:sp>
        <p:nvSpPr>
          <p:cNvPr id="288" name="r288"/>
          <p:cNvSpPr/>
          <p:nvPr/>
        </p:nvSpPr>
        <p:spPr>
          <a:xfrm>
            <a:off x="6686550" y="321945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89" name="t289"/>
          <p:cNvSpPr txBox="1"/>
          <p:nvPr/>
        </p:nvSpPr>
        <p:spPr>
          <a:xfrm>
            <a:off x="6753225" y="327660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20</a:t>
            </a:r>
          </a:p>
        </p:txBody>
      </p:sp>
      <p:sp>
        <p:nvSpPr>
          <p:cNvPr id="290" name="r290"/>
          <p:cNvSpPr/>
          <p:nvPr/>
        </p:nvSpPr>
        <p:spPr>
          <a:xfrm>
            <a:off x="685800" y="38862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91" name="t291"/>
          <p:cNvSpPr txBox="1"/>
          <p:nvPr/>
        </p:nvSpPr>
        <p:spPr>
          <a:xfrm>
            <a:off x="752475" y="39433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21</a:t>
            </a:r>
          </a:p>
        </p:txBody>
      </p:sp>
      <p:sp>
        <p:nvSpPr>
          <p:cNvPr id="292" name="r292"/>
          <p:cNvSpPr/>
          <p:nvPr/>
        </p:nvSpPr>
        <p:spPr>
          <a:xfrm>
            <a:off x="1352550" y="38862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93" name="t293"/>
          <p:cNvSpPr txBox="1"/>
          <p:nvPr/>
        </p:nvSpPr>
        <p:spPr>
          <a:xfrm>
            <a:off x="1419225" y="39433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22</a:t>
            </a:r>
          </a:p>
        </p:txBody>
      </p:sp>
      <p:sp>
        <p:nvSpPr>
          <p:cNvPr id="294" name="r294"/>
          <p:cNvSpPr/>
          <p:nvPr/>
        </p:nvSpPr>
        <p:spPr>
          <a:xfrm>
            <a:off x="2019300" y="38862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95" name="t295"/>
          <p:cNvSpPr txBox="1"/>
          <p:nvPr/>
        </p:nvSpPr>
        <p:spPr>
          <a:xfrm>
            <a:off x="2085975" y="39433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23</a:t>
            </a:r>
          </a:p>
        </p:txBody>
      </p:sp>
      <p:sp>
        <p:nvSpPr>
          <p:cNvPr id="296" name="r296"/>
          <p:cNvSpPr/>
          <p:nvPr/>
        </p:nvSpPr>
        <p:spPr>
          <a:xfrm>
            <a:off x="2686050" y="38862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97" name="t297"/>
          <p:cNvSpPr txBox="1"/>
          <p:nvPr/>
        </p:nvSpPr>
        <p:spPr>
          <a:xfrm>
            <a:off x="2752725" y="39433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24</a:t>
            </a:r>
          </a:p>
        </p:txBody>
      </p:sp>
      <p:sp>
        <p:nvSpPr>
          <p:cNvPr id="298" name="r298"/>
          <p:cNvSpPr/>
          <p:nvPr/>
        </p:nvSpPr>
        <p:spPr>
          <a:xfrm>
            <a:off x="3352800" y="38862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299" name="t299"/>
          <p:cNvSpPr txBox="1"/>
          <p:nvPr/>
        </p:nvSpPr>
        <p:spPr>
          <a:xfrm>
            <a:off x="3419475" y="39433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25</a:t>
            </a:r>
          </a:p>
        </p:txBody>
      </p:sp>
      <p:sp>
        <p:nvSpPr>
          <p:cNvPr id="300" name="r300"/>
          <p:cNvSpPr/>
          <p:nvPr/>
        </p:nvSpPr>
        <p:spPr>
          <a:xfrm>
            <a:off x="4019550" y="38862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301" name="t301"/>
          <p:cNvSpPr txBox="1"/>
          <p:nvPr/>
        </p:nvSpPr>
        <p:spPr>
          <a:xfrm>
            <a:off x="4086225" y="39433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26</a:t>
            </a:r>
          </a:p>
        </p:txBody>
      </p:sp>
      <p:sp>
        <p:nvSpPr>
          <p:cNvPr id="302" name="r302"/>
          <p:cNvSpPr/>
          <p:nvPr/>
        </p:nvSpPr>
        <p:spPr>
          <a:xfrm>
            <a:off x="4686300" y="38862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303" name="t303"/>
          <p:cNvSpPr txBox="1"/>
          <p:nvPr/>
        </p:nvSpPr>
        <p:spPr>
          <a:xfrm>
            <a:off x="4752975" y="39433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27</a:t>
            </a:r>
          </a:p>
        </p:txBody>
      </p:sp>
      <p:sp>
        <p:nvSpPr>
          <p:cNvPr id="304" name="r304"/>
          <p:cNvSpPr/>
          <p:nvPr/>
        </p:nvSpPr>
        <p:spPr>
          <a:xfrm>
            <a:off x="5353050" y="38862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305" name="t305"/>
          <p:cNvSpPr txBox="1"/>
          <p:nvPr/>
        </p:nvSpPr>
        <p:spPr>
          <a:xfrm>
            <a:off x="5419725" y="39433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28</a:t>
            </a:r>
          </a:p>
        </p:txBody>
      </p:sp>
      <p:sp>
        <p:nvSpPr>
          <p:cNvPr id="306" name="r306"/>
          <p:cNvSpPr/>
          <p:nvPr/>
        </p:nvSpPr>
        <p:spPr>
          <a:xfrm>
            <a:off x="6019800" y="38862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307" name="t307"/>
          <p:cNvSpPr txBox="1"/>
          <p:nvPr/>
        </p:nvSpPr>
        <p:spPr>
          <a:xfrm>
            <a:off x="6086475" y="39433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29</a:t>
            </a:r>
          </a:p>
        </p:txBody>
      </p:sp>
      <p:sp>
        <p:nvSpPr>
          <p:cNvPr id="308" name="r308"/>
          <p:cNvSpPr/>
          <p:nvPr/>
        </p:nvSpPr>
        <p:spPr>
          <a:xfrm>
            <a:off x="6686550" y="3886200"/>
            <a:ext cx="590550" cy="59055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309" name="t309"/>
          <p:cNvSpPr txBox="1"/>
          <p:nvPr/>
        </p:nvSpPr>
        <p:spPr>
          <a:xfrm>
            <a:off x="6753225" y="3943350"/>
            <a:ext cx="457200" cy="1133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638" b="0" i="0" spc="51" dirty="0">
                <a:solidFill>
                  <a:srgbClr val="C3B0F5"/>
                </a:solidFill>
                <a:latin typeface="DM Mono"/>
                <a:cs typeface="DM Mono"/>
              </a:rPr>
              <a:t>30</a:t>
            </a:r>
          </a:p>
        </p:txBody>
      </p:sp>
      <p:sp>
        <p:nvSpPr>
          <p:cNvPr id="310" name="r310"/>
          <p:cNvSpPr/>
          <p:nvPr/>
        </p:nvSpPr>
        <p:spPr>
          <a:xfrm>
            <a:off x="685800" y="4762500"/>
            <a:ext cx="4461510" cy="2857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311" name="r311"/>
          <p:cNvSpPr/>
          <p:nvPr/>
        </p:nvSpPr>
        <p:spPr>
          <a:xfrm>
            <a:off x="838200" y="4881563"/>
            <a:ext cx="57150" cy="57150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" name="t312"/>
          <p:cNvSpPr txBox="1"/>
          <p:nvPr/>
        </p:nvSpPr>
        <p:spPr>
          <a:xfrm>
            <a:off x="971550" y="4848225"/>
            <a:ext cx="404241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C3B0F5"/>
                </a:solidFill>
                <a:latin typeface="DM Mono"/>
                <a:cs typeface="DM Mono"/>
              </a:rPr>
              <a:t>CADA CELDA ES UNA ESCULTURA DISTINTA HECHA CON LAS MISMAS PIEZAS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3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313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FFE500"/>
                </a:solidFill>
                <a:latin typeface="DM Mono"/>
                <a:cs typeface="DM Mono"/>
              </a:rPr>
              <a:t>13</a:t>
            </a:r>
            <a:r>
              <a:rPr lang="es-AR" sz="825" b="0" i="0" spc="149" dirty="0">
                <a:solidFill>
                  <a:srgbClr val="C3B0F5"/>
                </a:solidFill>
                <a:latin typeface="DM Mono"/>
                <a:cs typeface="DM Mono"/>
              </a:rPr>
              <a:t>   LA EXPERIENCIA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685800" y="1428750"/>
            <a:ext cx="5905500" cy="586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s-AR" sz="3300" b="1" i="0" dirty="0">
                <a:solidFill>
                  <a:srgbClr val="F2EFE9"/>
                </a:solidFill>
                <a:latin typeface="Fredoka"/>
                <a:cs typeface="Fredoka"/>
              </a:rPr>
              <a:t>La comunidad decide qué existe.</a:t>
            </a:r>
          </a:p>
        </p:txBody>
      </p:sp>
      <p:sp>
        <p:nvSpPr>
          <p:cNvPr id="315" name="t315"/>
          <p:cNvSpPr txBox="1"/>
          <p:nvPr/>
        </p:nvSpPr>
        <p:spPr>
          <a:xfrm>
            <a:off x="685800" y="2857500"/>
            <a:ext cx="5334000" cy="2266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lang="es-AR" sz="1275" b="0" i="0" dirty="0">
                <a:solidFill>
                  <a:srgbClr val="F2EFE9"/>
                </a:solidFill>
                <a:latin typeface="Bricolage Grotesque"/>
                <a:cs typeface="Bricolage Grotesque"/>
              </a:rPr>
              <a:t>Voto popular, más una revisión técnica de que la pieza se pueda parar.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6972300" y="2047875"/>
            <a:ext cx="66675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C3B0F5"/>
                </a:solidFill>
                <a:latin typeface="DM Mono"/>
                <a:cs typeface="DM Mono"/>
              </a:rPr>
              <a:t>S-17</a:t>
            </a:r>
          </a:p>
        </p:txBody>
      </p:sp>
      <p:sp>
        <p:nvSpPr>
          <p:cNvPr id="317" name="r317"/>
          <p:cNvSpPr/>
          <p:nvPr/>
        </p:nvSpPr>
        <p:spPr>
          <a:xfrm>
            <a:off x="7734300" y="2000250"/>
            <a:ext cx="3545586" cy="20955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" name="t318"/>
          <p:cNvSpPr txBox="1"/>
          <p:nvPr/>
        </p:nvSpPr>
        <p:spPr>
          <a:xfrm>
            <a:off x="6972300" y="2543175"/>
            <a:ext cx="66675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C3B0F5"/>
                </a:solidFill>
                <a:latin typeface="DM Mono"/>
                <a:cs typeface="DM Mono"/>
              </a:rPr>
              <a:t>S-04</a:t>
            </a:r>
          </a:p>
        </p:txBody>
      </p:sp>
      <p:sp>
        <p:nvSpPr>
          <p:cNvPr id="319" name="r319"/>
          <p:cNvSpPr/>
          <p:nvPr/>
        </p:nvSpPr>
        <p:spPr>
          <a:xfrm>
            <a:off x="7734300" y="2495550"/>
            <a:ext cx="2678049" cy="20955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" name="t320"/>
          <p:cNvSpPr txBox="1"/>
          <p:nvPr/>
        </p:nvSpPr>
        <p:spPr>
          <a:xfrm>
            <a:off x="6972300" y="3038475"/>
            <a:ext cx="66675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C3B0F5"/>
                </a:solidFill>
                <a:latin typeface="DM Mono"/>
                <a:cs typeface="DM Mono"/>
              </a:rPr>
              <a:t>S-23</a:t>
            </a:r>
          </a:p>
        </p:txBody>
      </p:sp>
      <p:sp>
        <p:nvSpPr>
          <p:cNvPr id="321" name="r321"/>
          <p:cNvSpPr/>
          <p:nvPr/>
        </p:nvSpPr>
        <p:spPr>
          <a:xfrm>
            <a:off x="7734300" y="2990850"/>
            <a:ext cx="2187702" cy="20955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" name="t322"/>
          <p:cNvSpPr txBox="1"/>
          <p:nvPr/>
        </p:nvSpPr>
        <p:spPr>
          <a:xfrm>
            <a:off x="6972300" y="3533775"/>
            <a:ext cx="66675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C3B0F5"/>
                </a:solidFill>
                <a:latin typeface="DM Mono"/>
                <a:cs typeface="DM Mono"/>
              </a:rPr>
              <a:t>S-11</a:t>
            </a:r>
          </a:p>
        </p:txBody>
      </p:sp>
      <p:sp>
        <p:nvSpPr>
          <p:cNvPr id="323" name="r323"/>
          <p:cNvSpPr/>
          <p:nvPr/>
        </p:nvSpPr>
        <p:spPr>
          <a:xfrm>
            <a:off x="7734300" y="3486150"/>
            <a:ext cx="1508760" cy="20955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" name="r324"/>
          <p:cNvSpPr/>
          <p:nvPr/>
        </p:nvSpPr>
        <p:spPr>
          <a:xfrm>
            <a:off x="685800" y="4476750"/>
            <a:ext cx="3644265" cy="2857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366F5"/>
            </a:solidFill>
          </a:ln>
        </p:spPr>
        <p:txBody>
          <a:bodyPr/>
          <a:lstStyle/>
          <a:p/>
        </p:txBody>
      </p:sp>
      <p:sp>
        <p:nvSpPr>
          <p:cNvPr id="325" name="r325"/>
          <p:cNvSpPr/>
          <p:nvPr/>
        </p:nvSpPr>
        <p:spPr>
          <a:xfrm>
            <a:off x="838200" y="4595813"/>
            <a:ext cx="57150" cy="57150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6" name="t326"/>
          <p:cNvSpPr txBox="1"/>
          <p:nvPr/>
        </p:nvSpPr>
        <p:spPr>
          <a:xfrm>
            <a:off x="971550" y="4562475"/>
            <a:ext cx="3225165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C3B0F5"/>
                </a:solidFill>
                <a:latin typeface="DM Mono"/>
                <a:cs typeface="DM Mono"/>
              </a:rPr>
              <a:t>DATOS DE EJEMPLO — PLATAFORMA DE VOTACIÓN A DEFINIR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3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327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FFE500"/>
                </a:solidFill>
                <a:latin typeface="DM Mono"/>
                <a:cs typeface="DM Mono"/>
              </a:rPr>
              <a:t>14</a:t>
            </a:r>
            <a:r>
              <a:rPr lang="es-AR" sz="825" b="0" i="0" spc="149" dirty="0">
                <a:solidFill>
                  <a:srgbClr val="C3B0F5"/>
                </a:solidFill>
                <a:latin typeface="DM Mono"/>
                <a:cs typeface="DM Mono"/>
              </a:rPr>
              <a:t>   LA EXPERIENCIA</a:t>
            </a:r>
          </a:p>
        </p:txBody>
      </p:sp>
      <p:sp>
        <p:nvSpPr>
          <p:cNvPr id="328" name="t328"/>
          <p:cNvSpPr txBox="1"/>
          <p:nvPr/>
        </p:nvSpPr>
        <p:spPr>
          <a:xfrm>
            <a:off x="685800" y="2190750"/>
            <a:ext cx="9525000" cy="7734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s-AR" sz="4350" b="1" i="0" dirty="0">
                <a:solidFill>
                  <a:srgbClr val="C3B0F5"/>
                </a:solidFill>
                <a:latin typeface="Fredoka"/>
                <a:cs typeface="Fredoka"/>
              </a:rPr>
              <a:t>La tecnología desaparece.</a:t>
            </a:r>
          </a:p>
        </p:txBody>
      </p:sp>
      <p:sp>
        <p:nvSpPr>
          <p:cNvPr id="329" name="t329"/>
          <p:cNvSpPr txBox="1"/>
          <p:nvPr/>
        </p:nvSpPr>
        <p:spPr>
          <a:xfrm>
            <a:off x="685800" y="3048000"/>
            <a:ext cx="9525000" cy="7734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s-AR" sz="4350" b="1" i="0" dirty="0">
                <a:solidFill>
                  <a:srgbClr val="F2EFE9"/>
                </a:solidFill>
                <a:latin typeface="Fredoka"/>
                <a:cs typeface="Fredoka"/>
              </a:rPr>
              <a:t>Lo único que permanece es la obra.</a:t>
            </a:r>
          </a:p>
        </p:txBody>
      </p:sp>
      <p:sp>
        <p:nvSpPr>
          <p:cNvPr id="330" name="t330"/>
          <p:cNvSpPr txBox="1"/>
          <p:nvPr/>
        </p:nvSpPr>
        <p:spPr>
          <a:xfrm>
            <a:off x="685800" y="43053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C3B0F5"/>
                </a:solidFill>
                <a:latin typeface="DM Mono"/>
                <a:cs typeface="DM Mono"/>
              </a:rPr>
              <a:t>EL MODELO VIRTUAL FUNCIONA COMO PLANO DE CONSTRUCCIÓN.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331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4319"/>
                </a:solidFill>
                <a:latin typeface="DM Mono"/>
                <a:cs typeface="DM Mono"/>
              </a:rPr>
              <a:t>15</a:t>
            </a:r>
            <a:r>
              <a:rPr lang="es-AR" sz="825" b="0" i="0" spc="149" dirty="0">
                <a:solidFill>
                  <a:srgbClr val="6E6C68"/>
                </a:solidFill>
                <a:latin typeface="DM Mono"/>
                <a:cs typeface="DM Mono"/>
              </a:rPr>
              <a:t>   ESCALA</a:t>
            </a:r>
          </a:p>
        </p:txBody>
      </p:sp>
      <p:sp>
        <p:nvSpPr>
          <p:cNvPr id="332" name="t332"/>
          <p:cNvSpPr txBox="1"/>
          <p:nvPr/>
        </p:nvSpPr>
        <p:spPr>
          <a:xfrm>
            <a:off x="685800" y="876300"/>
            <a:ext cx="8572500" cy="586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3300" b="1" i="0" dirty="0">
                <a:solidFill>
                  <a:srgbClr val="0D0C0B"/>
                </a:solidFill>
                <a:latin typeface="Fredoka"/>
                <a:cs typeface="Fredoka"/>
              </a:rPr>
              <a:t>Cada ciudad muta distinto.</a:t>
            </a:r>
          </a:p>
        </p:txBody>
      </p:sp>
      <p:sp>
        <p:nvSpPr>
          <p:cNvPr id="333" name="t333"/>
          <p:cNvSpPr txBox="1"/>
          <p:nvPr/>
        </p:nvSpPr>
        <p:spPr>
          <a:xfrm>
            <a:off x="685800" y="1504950"/>
            <a:ext cx="7239000" cy="21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lang="es-AR" sz="1200" b="0" i="0" dirty="0">
                <a:solidFill>
                  <a:srgbClr val="0D0C0B"/>
                </a:solidFill>
                <a:latin typeface="Bricolage Grotesque"/>
                <a:cs typeface="Bricolage Grotesque"/>
              </a:rPr>
              <a:t>La cultura, los colores y el lenguaje construyen la forma y el mensaje.</a:t>
            </a:r>
          </a:p>
        </p:txBody>
      </p:sp>
      <p:sp>
        <p:nvSpPr>
          <p:cNvPr id="334" name="r334"/>
          <p:cNvSpPr/>
          <p:nvPr/>
        </p:nvSpPr>
        <p:spPr>
          <a:xfrm>
            <a:off x="685800" y="2209800"/>
            <a:ext cx="10820400" cy="9525"/>
          </a:xfrm>
          <a:prstGeom prst="rect">
            <a:avLst/>
          </a:prstGeom>
          <a:solidFill>
            <a:srgbClr val="D5D1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5" name="r335"/>
          <p:cNvSpPr/>
          <p:nvPr/>
        </p:nvSpPr>
        <p:spPr>
          <a:xfrm>
            <a:off x="704850" y="24003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B62462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" name="t336"/>
          <p:cNvSpPr txBox="1"/>
          <p:nvPr/>
        </p:nvSpPr>
        <p:spPr>
          <a:xfrm>
            <a:off x="1104900" y="2343150"/>
            <a:ext cx="4762500" cy="4533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550" b="1" i="0" dirty="0">
                <a:solidFill>
                  <a:srgbClr val="0D0C0B"/>
                </a:solidFill>
                <a:latin typeface="Fredoka"/>
                <a:cs typeface="Fredoka"/>
              </a:rPr>
              <a:t>Montreal</a:t>
            </a:r>
          </a:p>
        </p:txBody>
      </p:sp>
      <p:sp>
        <p:nvSpPr>
          <p:cNvPr id="337" name="t337"/>
          <p:cNvSpPr txBox="1"/>
          <p:nvPr/>
        </p:nvSpPr>
        <p:spPr>
          <a:xfrm>
            <a:off x="685800" y="2438400"/>
            <a:ext cx="1082040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750" b="0" i="0" spc="120" dirty="0">
                <a:solidFill>
                  <a:srgbClr val="6E6C68"/>
                </a:solidFill>
                <a:latin typeface="DM Mono"/>
                <a:cs typeface="DM Mono"/>
              </a:rPr>
              <a:t>MENTOR LOCAL + PALETA</a:t>
            </a:r>
          </a:p>
        </p:txBody>
      </p:sp>
      <p:sp>
        <p:nvSpPr>
          <p:cNvPr id="338" name="r338"/>
          <p:cNvSpPr/>
          <p:nvPr/>
        </p:nvSpPr>
        <p:spPr>
          <a:xfrm>
            <a:off x="685800" y="2800350"/>
            <a:ext cx="10820400" cy="9525"/>
          </a:xfrm>
          <a:prstGeom prst="rect">
            <a:avLst/>
          </a:prstGeom>
          <a:solidFill>
            <a:srgbClr val="D5D1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" name="r339"/>
          <p:cNvSpPr/>
          <p:nvPr/>
        </p:nvSpPr>
        <p:spPr>
          <a:xfrm>
            <a:off x="704850" y="299085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8CA80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" name="t340"/>
          <p:cNvSpPr txBox="1"/>
          <p:nvPr/>
        </p:nvSpPr>
        <p:spPr>
          <a:xfrm>
            <a:off x="1104900" y="2933700"/>
            <a:ext cx="4762500" cy="4533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550" b="1" i="0" dirty="0">
                <a:solidFill>
                  <a:srgbClr val="0D0C0B"/>
                </a:solidFill>
                <a:latin typeface="Fredoka"/>
                <a:cs typeface="Fredoka"/>
              </a:rPr>
              <a:t>Barcelona</a:t>
            </a:r>
          </a:p>
        </p:txBody>
      </p:sp>
      <p:sp>
        <p:nvSpPr>
          <p:cNvPr id="341" name="t341"/>
          <p:cNvSpPr txBox="1"/>
          <p:nvPr/>
        </p:nvSpPr>
        <p:spPr>
          <a:xfrm>
            <a:off x="685800" y="3028950"/>
            <a:ext cx="1082040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750" b="0" i="0" spc="120" dirty="0">
                <a:solidFill>
                  <a:srgbClr val="6E6C68"/>
                </a:solidFill>
                <a:latin typeface="DM Mono"/>
                <a:cs typeface="DM Mono"/>
              </a:rPr>
              <a:t>MENTOR LOCAL + PALETA</a:t>
            </a:r>
          </a:p>
        </p:txBody>
      </p:sp>
      <p:sp>
        <p:nvSpPr>
          <p:cNvPr id="342" name="r342"/>
          <p:cNvSpPr/>
          <p:nvPr/>
        </p:nvSpPr>
        <p:spPr>
          <a:xfrm>
            <a:off x="685800" y="3390900"/>
            <a:ext cx="10820400" cy="9525"/>
          </a:xfrm>
          <a:prstGeom prst="rect">
            <a:avLst/>
          </a:prstGeom>
          <a:solidFill>
            <a:srgbClr val="D5D1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" name="r343"/>
          <p:cNvSpPr/>
          <p:nvPr/>
        </p:nvSpPr>
        <p:spPr>
          <a:xfrm>
            <a:off x="704850" y="35814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B64319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" name="t344"/>
          <p:cNvSpPr txBox="1"/>
          <p:nvPr/>
        </p:nvSpPr>
        <p:spPr>
          <a:xfrm>
            <a:off x="1104900" y="3524250"/>
            <a:ext cx="4762500" cy="4533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550" b="1" i="0" dirty="0">
                <a:solidFill>
                  <a:srgbClr val="0D0C0B"/>
                </a:solidFill>
                <a:latin typeface="Fredoka"/>
                <a:cs typeface="Fredoka"/>
              </a:rPr>
              <a:t>París</a:t>
            </a:r>
          </a:p>
        </p:txBody>
      </p:sp>
      <p:sp>
        <p:nvSpPr>
          <p:cNvPr id="345" name="t345"/>
          <p:cNvSpPr txBox="1"/>
          <p:nvPr/>
        </p:nvSpPr>
        <p:spPr>
          <a:xfrm>
            <a:off x="685800" y="3619500"/>
            <a:ext cx="1082040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750" b="0" i="0" spc="120" dirty="0">
                <a:solidFill>
                  <a:srgbClr val="6E6C68"/>
                </a:solidFill>
                <a:latin typeface="DM Mono"/>
                <a:cs typeface="DM Mono"/>
              </a:rPr>
              <a:t>MENTOR LOCAL + PALETA</a:t>
            </a:r>
          </a:p>
        </p:txBody>
      </p:sp>
      <p:sp>
        <p:nvSpPr>
          <p:cNvPr id="346" name="r346"/>
          <p:cNvSpPr/>
          <p:nvPr/>
        </p:nvSpPr>
        <p:spPr>
          <a:xfrm>
            <a:off x="685800" y="3981450"/>
            <a:ext cx="10820400" cy="9525"/>
          </a:xfrm>
          <a:prstGeom prst="rect">
            <a:avLst/>
          </a:prstGeom>
          <a:solidFill>
            <a:srgbClr val="D5D1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" name="r347"/>
          <p:cNvSpPr/>
          <p:nvPr/>
        </p:nvSpPr>
        <p:spPr>
          <a:xfrm>
            <a:off x="704850" y="417195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06E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" name="t348"/>
          <p:cNvSpPr txBox="1"/>
          <p:nvPr/>
        </p:nvSpPr>
        <p:spPr>
          <a:xfrm>
            <a:off x="1104900" y="4114800"/>
            <a:ext cx="4762500" cy="4533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550" b="1" i="0" dirty="0">
                <a:solidFill>
                  <a:srgbClr val="0D0C0B"/>
                </a:solidFill>
                <a:latin typeface="Fredoka"/>
                <a:cs typeface="Fredoka"/>
              </a:rPr>
              <a:t>Taiwán</a:t>
            </a:r>
          </a:p>
        </p:txBody>
      </p:sp>
      <p:sp>
        <p:nvSpPr>
          <p:cNvPr id="349" name="t349"/>
          <p:cNvSpPr txBox="1"/>
          <p:nvPr/>
        </p:nvSpPr>
        <p:spPr>
          <a:xfrm>
            <a:off x="685800" y="4210050"/>
            <a:ext cx="1082040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750" b="0" i="0" spc="120" dirty="0">
                <a:solidFill>
                  <a:srgbClr val="6E6C68"/>
                </a:solidFill>
                <a:latin typeface="DM Mono"/>
                <a:cs typeface="DM Mono"/>
              </a:rPr>
              <a:t>MENTOR LOCAL + PALETA</a:t>
            </a:r>
          </a:p>
        </p:txBody>
      </p:sp>
      <p:sp>
        <p:nvSpPr>
          <p:cNvPr id="350" name="r350"/>
          <p:cNvSpPr/>
          <p:nvPr/>
        </p:nvSpPr>
        <p:spPr>
          <a:xfrm>
            <a:off x="685800" y="4572000"/>
            <a:ext cx="10820400" cy="9525"/>
          </a:xfrm>
          <a:prstGeom prst="rect">
            <a:avLst/>
          </a:prstGeom>
          <a:solidFill>
            <a:srgbClr val="D5D1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" name="r351"/>
          <p:cNvSpPr/>
          <p:nvPr/>
        </p:nvSpPr>
        <p:spPr>
          <a:xfrm>
            <a:off x="704850" y="4762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552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" name="t352"/>
          <p:cNvSpPr txBox="1"/>
          <p:nvPr/>
        </p:nvSpPr>
        <p:spPr>
          <a:xfrm>
            <a:off x="1104900" y="4705350"/>
            <a:ext cx="4762500" cy="4533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550" b="1" i="0" dirty="0">
                <a:solidFill>
                  <a:srgbClr val="0D0C0B"/>
                </a:solidFill>
                <a:latin typeface="Fredoka"/>
                <a:cs typeface="Fredoka"/>
              </a:rPr>
              <a:t>Tokio</a:t>
            </a:r>
          </a:p>
        </p:txBody>
      </p:sp>
      <p:sp>
        <p:nvSpPr>
          <p:cNvPr id="353" name="t353"/>
          <p:cNvSpPr txBox="1"/>
          <p:nvPr/>
        </p:nvSpPr>
        <p:spPr>
          <a:xfrm>
            <a:off x="685800" y="4800600"/>
            <a:ext cx="1082040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5000"/>
              </a:lnSpc>
            </a:pPr>
            <a:r>
              <a:rPr lang="es-AR" sz="750" b="0" i="0" spc="120" dirty="0">
                <a:solidFill>
                  <a:srgbClr val="6E6C68"/>
                </a:solidFill>
                <a:latin typeface="DM Mono"/>
                <a:cs typeface="DM Mono"/>
              </a:rPr>
              <a:t>MENTOR LOCAL + PALETA</a:t>
            </a:r>
          </a:p>
        </p:txBody>
      </p:sp>
      <p:sp>
        <p:nvSpPr>
          <p:cNvPr id="354" name="r354"/>
          <p:cNvSpPr/>
          <p:nvPr/>
        </p:nvSpPr>
        <p:spPr>
          <a:xfrm>
            <a:off x="685800" y="5162550"/>
            <a:ext cx="10820400" cy="9525"/>
          </a:xfrm>
          <a:prstGeom prst="rect">
            <a:avLst/>
          </a:prstGeom>
          <a:solidFill>
            <a:srgbClr val="D5D1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" name="r355"/>
          <p:cNvSpPr/>
          <p:nvPr/>
        </p:nvSpPr>
        <p:spPr>
          <a:xfrm>
            <a:off x="685800" y="5372100"/>
            <a:ext cx="3204210" cy="2857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D1C8"/>
            </a:solidFill>
          </a:ln>
        </p:spPr>
        <p:txBody>
          <a:bodyPr/>
          <a:lstStyle/>
          <a:p/>
        </p:txBody>
      </p:sp>
      <p:sp>
        <p:nvSpPr>
          <p:cNvPr id="356" name="r356"/>
          <p:cNvSpPr/>
          <p:nvPr/>
        </p:nvSpPr>
        <p:spPr>
          <a:xfrm>
            <a:off x="838200" y="5491163"/>
            <a:ext cx="57150" cy="57150"/>
          </a:xfrm>
          <a:prstGeom prst="ellipse">
            <a:avLst/>
          </a:prstGeom>
          <a:solidFill>
            <a:srgbClr val="FF5B1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" name="t357"/>
          <p:cNvSpPr txBox="1"/>
          <p:nvPr/>
        </p:nvSpPr>
        <p:spPr>
          <a:xfrm>
            <a:off x="971550" y="5457825"/>
            <a:ext cx="2785110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6E6C68"/>
                </a:solidFill>
                <a:latin typeface="DM Mono"/>
                <a:cs typeface="DM Mono"/>
              </a:rPr>
              <a:t>A DEFINIR — CIUDADES SEDE, VENUES Y PARTNERS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358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4319"/>
                </a:solidFill>
                <a:latin typeface="DM Mono"/>
                <a:cs typeface="DM Mono"/>
              </a:rPr>
              <a:t>16</a:t>
            </a:r>
            <a:r>
              <a:rPr lang="es-AR" sz="825" b="0" i="0" spc="149" dirty="0">
                <a:solidFill>
                  <a:srgbClr val="6E6C68"/>
                </a:solidFill>
                <a:latin typeface="DM Mono"/>
                <a:cs typeface="DM Mono"/>
              </a:rPr>
              <a:t>   ESCALA</a:t>
            </a:r>
          </a:p>
        </p:txBody>
      </p:sp>
      <p:sp>
        <p:nvSpPr>
          <p:cNvPr id="359" name="t359"/>
          <p:cNvSpPr txBox="1"/>
          <p:nvPr/>
        </p:nvSpPr>
        <p:spPr>
          <a:xfrm>
            <a:off x="685800" y="876300"/>
            <a:ext cx="8572500" cy="5867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3300" b="1" i="0" dirty="0">
                <a:solidFill>
                  <a:srgbClr val="0D0C0B"/>
                </a:solidFill>
                <a:latin typeface="Fredoka"/>
                <a:cs typeface="Fredoka"/>
              </a:rPr>
              <a:t>Un método. Cualquier escala.</a:t>
            </a:r>
          </a:p>
        </p:txBody>
      </p:sp>
      <p:sp>
        <p:nvSpPr>
          <p:cNvPr id="360" name="t360"/>
          <p:cNvSpPr txBox="1"/>
          <p:nvPr/>
        </p:nvSpPr>
        <p:spPr>
          <a:xfrm>
            <a:off x="685800" y="1777365"/>
            <a:ext cx="2286000" cy="2266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275" b="1" i="0" dirty="0">
                <a:solidFill>
                  <a:srgbClr val="0D0C0B"/>
                </a:solidFill>
                <a:latin typeface="Fredoka"/>
                <a:cs typeface="Fredoka"/>
              </a:rPr>
              <a:t>Barrio</a:t>
            </a:r>
          </a:p>
        </p:txBody>
      </p:sp>
      <p:sp>
        <p:nvSpPr>
          <p:cNvPr id="361" name="t361"/>
          <p:cNvSpPr txBox="1"/>
          <p:nvPr/>
        </p:nvSpPr>
        <p:spPr>
          <a:xfrm>
            <a:off x="1382268" y="1847850"/>
            <a:ext cx="28575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975" b="0" i="0" dirty="0">
                <a:solidFill>
                  <a:srgbClr val="6E6C68"/>
                </a:solidFill>
                <a:latin typeface="DM Mono"/>
                <a:cs typeface="DM Mono"/>
              </a:rPr>
              <a:t>→</a:t>
            </a:r>
          </a:p>
        </p:txBody>
      </p:sp>
      <p:sp>
        <p:nvSpPr>
          <p:cNvPr id="362" name="t362"/>
          <p:cNvSpPr txBox="1"/>
          <p:nvPr/>
        </p:nvSpPr>
        <p:spPr>
          <a:xfrm>
            <a:off x="1668018" y="1767840"/>
            <a:ext cx="2286000" cy="2933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650" b="1" i="0" dirty="0">
                <a:solidFill>
                  <a:srgbClr val="0D0C0B"/>
                </a:solidFill>
                <a:latin typeface="Fredoka"/>
                <a:cs typeface="Fredoka"/>
              </a:rPr>
              <a:t>Municipio</a:t>
            </a:r>
          </a:p>
        </p:txBody>
      </p:sp>
      <p:sp>
        <p:nvSpPr>
          <p:cNvPr id="363" name="t363"/>
          <p:cNvSpPr txBox="1"/>
          <p:nvPr/>
        </p:nvSpPr>
        <p:spPr>
          <a:xfrm>
            <a:off x="2876550" y="1847850"/>
            <a:ext cx="28575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975" b="0" i="0" dirty="0">
                <a:solidFill>
                  <a:srgbClr val="6E6C68"/>
                </a:solidFill>
                <a:latin typeface="DM Mono"/>
                <a:cs typeface="DM Mono"/>
              </a:rPr>
              <a:t>→</a:t>
            </a:r>
          </a:p>
        </p:txBody>
      </p:sp>
      <p:sp>
        <p:nvSpPr>
          <p:cNvPr id="364" name="t364"/>
          <p:cNvSpPr txBox="1"/>
          <p:nvPr/>
        </p:nvSpPr>
        <p:spPr>
          <a:xfrm>
            <a:off x="3162300" y="1758315"/>
            <a:ext cx="2286000" cy="3600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025" b="1" i="0" dirty="0">
                <a:solidFill>
                  <a:srgbClr val="0D0C0B"/>
                </a:solidFill>
                <a:latin typeface="Fredoka"/>
                <a:cs typeface="Fredoka"/>
              </a:rPr>
              <a:t>Ciudad</a:t>
            </a:r>
          </a:p>
        </p:txBody>
      </p:sp>
      <p:sp>
        <p:nvSpPr>
          <p:cNvPr id="365" name="t365"/>
          <p:cNvSpPr txBox="1"/>
          <p:nvPr/>
        </p:nvSpPr>
        <p:spPr>
          <a:xfrm>
            <a:off x="4178808" y="1847850"/>
            <a:ext cx="28575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975" b="0" i="0" dirty="0">
                <a:solidFill>
                  <a:srgbClr val="6E6C68"/>
                </a:solidFill>
                <a:latin typeface="DM Mono"/>
                <a:cs typeface="DM Mono"/>
              </a:rPr>
              <a:t>→</a:t>
            </a:r>
          </a:p>
        </p:txBody>
      </p:sp>
      <p:sp>
        <p:nvSpPr>
          <p:cNvPr id="366" name="t366"/>
          <p:cNvSpPr txBox="1"/>
          <p:nvPr/>
        </p:nvSpPr>
        <p:spPr>
          <a:xfrm>
            <a:off x="4464558" y="1748790"/>
            <a:ext cx="2286000" cy="426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400" b="1" i="0" dirty="0">
                <a:solidFill>
                  <a:srgbClr val="0D0C0B"/>
                </a:solidFill>
                <a:latin typeface="Fredoka"/>
                <a:cs typeface="Fredoka"/>
              </a:rPr>
              <a:t>Provincia</a:t>
            </a:r>
          </a:p>
        </p:txBody>
      </p:sp>
      <p:sp>
        <p:nvSpPr>
          <p:cNvPr id="367" name="t367"/>
          <p:cNvSpPr txBox="1"/>
          <p:nvPr/>
        </p:nvSpPr>
        <p:spPr>
          <a:xfrm>
            <a:off x="6153150" y="1847850"/>
            <a:ext cx="28575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975" b="0" i="0" dirty="0">
                <a:solidFill>
                  <a:srgbClr val="6E6C68"/>
                </a:solidFill>
                <a:latin typeface="DM Mono"/>
                <a:cs typeface="DM Mono"/>
              </a:rPr>
              <a:t>→</a:t>
            </a:r>
          </a:p>
        </p:txBody>
      </p:sp>
      <p:sp>
        <p:nvSpPr>
          <p:cNvPr id="368" name="t368"/>
          <p:cNvSpPr txBox="1"/>
          <p:nvPr/>
        </p:nvSpPr>
        <p:spPr>
          <a:xfrm>
            <a:off x="6438900" y="1739265"/>
            <a:ext cx="2286000" cy="4933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775" b="1" i="0" dirty="0">
                <a:solidFill>
                  <a:srgbClr val="0D0C0B"/>
                </a:solidFill>
                <a:latin typeface="Fredoka"/>
                <a:cs typeface="Fredoka"/>
              </a:rPr>
              <a:t>País</a:t>
            </a:r>
          </a:p>
        </p:txBody>
      </p:sp>
      <p:sp>
        <p:nvSpPr>
          <p:cNvPr id="369" name="t369"/>
          <p:cNvSpPr txBox="1"/>
          <p:nvPr/>
        </p:nvSpPr>
        <p:spPr>
          <a:xfrm>
            <a:off x="7380732" y="1847850"/>
            <a:ext cx="28575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975" b="0" i="0" dirty="0">
                <a:solidFill>
                  <a:srgbClr val="6E6C68"/>
                </a:solidFill>
                <a:latin typeface="DM Mono"/>
                <a:cs typeface="DM Mono"/>
              </a:rPr>
              <a:t>→</a:t>
            </a:r>
          </a:p>
        </p:txBody>
      </p:sp>
      <p:sp>
        <p:nvSpPr>
          <p:cNvPr id="370" name="t370"/>
          <p:cNvSpPr txBox="1"/>
          <p:nvPr/>
        </p:nvSpPr>
        <p:spPr>
          <a:xfrm>
            <a:off x="7666482" y="1729740"/>
            <a:ext cx="2286000" cy="5600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3150" b="1" i="0" dirty="0">
                <a:solidFill>
                  <a:srgbClr val="0D0C0B"/>
                </a:solidFill>
                <a:latin typeface="Fredoka"/>
                <a:cs typeface="Fredoka"/>
              </a:rPr>
              <a:t>Bienal</a:t>
            </a:r>
          </a:p>
        </p:txBody>
      </p:sp>
      <p:sp>
        <p:nvSpPr>
          <p:cNvPr id="371" name="r371"/>
          <p:cNvSpPr/>
          <p:nvPr/>
        </p:nvSpPr>
        <p:spPr>
          <a:xfrm>
            <a:off x="685800" y="2762250"/>
            <a:ext cx="3505200" cy="9906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5D1C8"/>
            </a:solidFill>
          </a:ln>
        </p:spPr>
        <p:txBody>
          <a:bodyPr/>
          <a:lstStyle/>
          <a:p/>
        </p:txBody>
      </p:sp>
      <p:sp>
        <p:nvSpPr>
          <p:cNvPr id="372" name="t372"/>
          <p:cNvSpPr txBox="1"/>
          <p:nvPr/>
        </p:nvSpPr>
        <p:spPr>
          <a:xfrm>
            <a:off x="876300" y="2971800"/>
            <a:ext cx="31242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0D0C0B"/>
                </a:solidFill>
                <a:latin typeface="Fredoka"/>
                <a:cs typeface="Fredoka"/>
              </a:rPr>
              <a:t>Museos</a:t>
            </a:r>
          </a:p>
        </p:txBody>
      </p:sp>
      <p:sp>
        <p:nvSpPr>
          <p:cNvPr id="373" name="t373"/>
          <p:cNvSpPr txBox="1"/>
          <p:nvPr/>
        </p:nvSpPr>
        <p:spPr>
          <a:xfrm>
            <a:off x="876300" y="3295650"/>
            <a:ext cx="312420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s-AR" sz="975" b="0" i="0" dirty="0">
                <a:solidFill>
                  <a:srgbClr val="6E6C68"/>
                </a:solidFill>
                <a:latin typeface="Bricolage Grotesque"/>
                <a:cs typeface="Bricolage Grotesque"/>
              </a:rPr>
              <a:t>Ligado a una muestra</a:t>
            </a:r>
          </a:p>
        </p:txBody>
      </p:sp>
      <p:sp>
        <p:nvSpPr>
          <p:cNvPr id="374" name="r374"/>
          <p:cNvSpPr/>
          <p:nvPr/>
        </p:nvSpPr>
        <p:spPr>
          <a:xfrm>
            <a:off x="4343400" y="2762250"/>
            <a:ext cx="3505200" cy="9906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5D1C8"/>
            </a:solidFill>
          </a:ln>
        </p:spPr>
        <p:txBody>
          <a:bodyPr/>
          <a:lstStyle/>
          <a:p/>
        </p:txBody>
      </p:sp>
      <p:sp>
        <p:nvSpPr>
          <p:cNvPr id="375" name="t375"/>
          <p:cNvSpPr txBox="1"/>
          <p:nvPr/>
        </p:nvSpPr>
        <p:spPr>
          <a:xfrm>
            <a:off x="4533900" y="2971800"/>
            <a:ext cx="31242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0D0C0B"/>
                </a:solidFill>
                <a:latin typeface="Fredoka"/>
                <a:cs typeface="Fredoka"/>
              </a:rPr>
              <a:t>Bienales</a:t>
            </a:r>
          </a:p>
        </p:txBody>
      </p:sp>
      <p:sp>
        <p:nvSpPr>
          <p:cNvPr id="376" name="t376"/>
          <p:cNvSpPr txBox="1"/>
          <p:nvPr/>
        </p:nvSpPr>
        <p:spPr>
          <a:xfrm>
            <a:off x="4533900" y="3295650"/>
            <a:ext cx="312420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s-AR" sz="975" b="0" i="0" dirty="0">
                <a:solidFill>
                  <a:srgbClr val="6E6C68"/>
                </a:solidFill>
                <a:latin typeface="Bricolage Grotesque"/>
                <a:cs typeface="Bricolage Grotesque"/>
              </a:rPr>
              <a:t>Permanente o temporal</a:t>
            </a:r>
          </a:p>
        </p:txBody>
      </p:sp>
      <p:sp>
        <p:nvSpPr>
          <p:cNvPr id="377" name="r377"/>
          <p:cNvSpPr/>
          <p:nvPr/>
        </p:nvSpPr>
        <p:spPr>
          <a:xfrm>
            <a:off x="8001000" y="2762250"/>
            <a:ext cx="3505200" cy="9906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5D1C8"/>
            </a:solidFill>
          </a:ln>
        </p:spPr>
        <p:txBody>
          <a:bodyPr/>
          <a:lstStyle/>
          <a:p/>
        </p:txBody>
      </p:sp>
      <p:sp>
        <p:nvSpPr>
          <p:cNvPr id="378" name="t378"/>
          <p:cNvSpPr txBox="1"/>
          <p:nvPr/>
        </p:nvSpPr>
        <p:spPr>
          <a:xfrm>
            <a:off x="8191500" y="2971800"/>
            <a:ext cx="31242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0D0C0B"/>
                </a:solidFill>
                <a:latin typeface="Fredoka"/>
                <a:cs typeface="Fredoka"/>
              </a:rPr>
              <a:t>Festivales</a:t>
            </a:r>
          </a:p>
        </p:txBody>
      </p:sp>
      <p:sp>
        <p:nvSpPr>
          <p:cNvPr id="379" name="t379"/>
          <p:cNvSpPr txBox="1"/>
          <p:nvPr/>
        </p:nvSpPr>
        <p:spPr>
          <a:xfrm>
            <a:off x="8191500" y="3295650"/>
            <a:ext cx="312420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s-AR" sz="975" b="0" i="0" dirty="0">
                <a:solidFill>
                  <a:srgbClr val="6E6C68"/>
                </a:solidFill>
                <a:latin typeface="Bricolage Grotesque"/>
                <a:cs typeface="Bricolage Grotesque"/>
              </a:rPr>
              <a:t>Abierta al público</a:t>
            </a:r>
          </a:p>
        </p:txBody>
      </p:sp>
      <p:sp>
        <p:nvSpPr>
          <p:cNvPr id="380" name="r380"/>
          <p:cNvSpPr/>
          <p:nvPr/>
        </p:nvSpPr>
        <p:spPr>
          <a:xfrm>
            <a:off x="685800" y="3905250"/>
            <a:ext cx="3505200" cy="9906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5D1C8"/>
            </a:solidFill>
          </a:ln>
        </p:spPr>
        <p:txBody>
          <a:bodyPr/>
          <a:lstStyle/>
          <a:p/>
        </p:txBody>
      </p:sp>
      <p:sp>
        <p:nvSpPr>
          <p:cNvPr id="381" name="t381"/>
          <p:cNvSpPr txBox="1"/>
          <p:nvPr/>
        </p:nvSpPr>
        <p:spPr>
          <a:xfrm>
            <a:off x="876300" y="4114800"/>
            <a:ext cx="31242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0D0C0B"/>
                </a:solidFill>
                <a:latin typeface="Fredoka"/>
                <a:cs typeface="Fredoka"/>
              </a:rPr>
              <a:t>Espacio público</a:t>
            </a:r>
          </a:p>
        </p:txBody>
      </p:sp>
      <p:sp>
        <p:nvSpPr>
          <p:cNvPr id="382" name="t382"/>
          <p:cNvSpPr txBox="1"/>
          <p:nvPr/>
        </p:nvSpPr>
        <p:spPr>
          <a:xfrm>
            <a:off x="876300" y="4438650"/>
            <a:ext cx="312420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s-AR" sz="975" b="0" i="0" dirty="0">
                <a:solidFill>
                  <a:srgbClr val="6E6C68"/>
                </a:solidFill>
                <a:latin typeface="Bricolage Grotesque"/>
                <a:cs typeface="Bricolage Grotesque"/>
              </a:rPr>
              <a:t>La obra queda</a:t>
            </a:r>
          </a:p>
        </p:txBody>
      </p:sp>
      <p:sp>
        <p:nvSpPr>
          <p:cNvPr id="383" name="r383"/>
          <p:cNvSpPr/>
          <p:nvPr/>
        </p:nvSpPr>
        <p:spPr>
          <a:xfrm>
            <a:off x="4343400" y="3905250"/>
            <a:ext cx="3505200" cy="9906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5D1C8"/>
            </a:solidFill>
          </a:ln>
        </p:spPr>
        <p:txBody>
          <a:bodyPr/>
          <a:lstStyle/>
          <a:p/>
        </p:txBody>
      </p:sp>
      <p:sp>
        <p:nvSpPr>
          <p:cNvPr id="384" name="t384"/>
          <p:cNvSpPr txBox="1"/>
          <p:nvPr/>
        </p:nvSpPr>
        <p:spPr>
          <a:xfrm>
            <a:off x="4533900" y="4114800"/>
            <a:ext cx="31242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0D0C0B"/>
                </a:solidFill>
                <a:latin typeface="Fredoka"/>
                <a:cs typeface="Fredoka"/>
              </a:rPr>
              <a:t>Educación</a:t>
            </a:r>
          </a:p>
        </p:txBody>
      </p:sp>
      <p:sp>
        <p:nvSpPr>
          <p:cNvPr id="385" name="t385"/>
          <p:cNvSpPr txBox="1"/>
          <p:nvPr/>
        </p:nvSpPr>
        <p:spPr>
          <a:xfrm>
            <a:off x="4533900" y="4438650"/>
            <a:ext cx="312420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s-AR" sz="975" b="0" i="0" dirty="0">
                <a:solidFill>
                  <a:srgbClr val="6E6C68"/>
                </a:solidFill>
                <a:latin typeface="Bricolage Grotesque"/>
                <a:cs typeface="Bricolage Grotesque"/>
              </a:rPr>
              <a:t>Arte, diseño, tecnología</a:t>
            </a:r>
          </a:p>
        </p:txBody>
      </p:sp>
      <p:sp>
        <p:nvSpPr>
          <p:cNvPr id="386" name="r386"/>
          <p:cNvSpPr/>
          <p:nvPr/>
        </p:nvSpPr>
        <p:spPr>
          <a:xfrm>
            <a:off x="8001000" y="3905250"/>
            <a:ext cx="3505200" cy="9906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5D1C8"/>
            </a:solidFill>
          </a:ln>
        </p:spPr>
        <p:txBody>
          <a:bodyPr/>
          <a:lstStyle/>
          <a:p/>
        </p:txBody>
      </p:sp>
      <p:sp>
        <p:nvSpPr>
          <p:cNvPr id="387" name="t387"/>
          <p:cNvSpPr txBox="1"/>
          <p:nvPr/>
        </p:nvSpPr>
        <p:spPr>
          <a:xfrm>
            <a:off x="8191500" y="4114800"/>
            <a:ext cx="3124200" cy="253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1425" b="1" i="0" dirty="0">
                <a:solidFill>
                  <a:srgbClr val="0D0C0B"/>
                </a:solidFill>
                <a:latin typeface="Fredoka"/>
                <a:cs typeface="Fredoka"/>
              </a:rPr>
              <a:t>Artistas invitados</a:t>
            </a:r>
          </a:p>
        </p:txBody>
      </p:sp>
      <p:sp>
        <p:nvSpPr>
          <p:cNvPr id="388" name="t388"/>
          <p:cNvSpPr txBox="1"/>
          <p:nvPr/>
        </p:nvSpPr>
        <p:spPr>
          <a:xfrm>
            <a:off x="8191500" y="4438650"/>
            <a:ext cx="312420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s-AR" sz="975" b="0" i="0" dirty="0">
                <a:solidFill>
                  <a:srgbClr val="6E6C68"/>
                </a:solidFill>
                <a:latin typeface="Bricolage Grotesque"/>
                <a:cs typeface="Bricolage Grotesque"/>
              </a:rPr>
              <a:t>Un universo visual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389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B64319"/>
                </a:solidFill>
                <a:latin typeface="DM Mono"/>
                <a:cs typeface="DM Mono"/>
              </a:rPr>
              <a:t>17</a:t>
            </a:r>
            <a:r>
              <a:rPr lang="es-AR" sz="825" b="0" i="0" spc="149" dirty="0">
                <a:solidFill>
                  <a:srgbClr val="6E6C68"/>
                </a:solidFill>
                <a:latin typeface="DM Mono"/>
                <a:cs typeface="DM Mono"/>
              </a:rPr>
              <a:t>   ESCALA</a:t>
            </a:r>
          </a:p>
        </p:txBody>
      </p:sp>
      <p:sp>
        <p:nvSpPr>
          <p:cNvPr id="390" name="t390"/>
          <p:cNvSpPr txBox="1"/>
          <p:nvPr/>
        </p:nvSpPr>
        <p:spPr>
          <a:xfrm>
            <a:off x="685800" y="1238250"/>
            <a:ext cx="8572500" cy="6134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3450" b="1" i="0" dirty="0">
                <a:solidFill>
                  <a:srgbClr val="0D0C0B"/>
                </a:solidFill>
                <a:latin typeface="Fredoka"/>
                <a:cs typeface="Fredoka"/>
              </a:rPr>
              <a:t>Lo que deja</a:t>
            </a:r>
          </a:p>
        </p:txBody>
      </p:sp>
      <p:sp>
        <p:nvSpPr>
          <p:cNvPr id="391" name="r391"/>
          <p:cNvSpPr/>
          <p:nvPr/>
        </p:nvSpPr>
        <p:spPr>
          <a:xfrm>
            <a:off x="685800" y="2457450"/>
            <a:ext cx="2547938" cy="28575"/>
          </a:xfrm>
          <a:prstGeom prst="rect">
            <a:avLst/>
          </a:prstGeom>
          <a:solidFill>
            <a:srgbClr val="FF5B1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" name="t392"/>
          <p:cNvSpPr txBox="1"/>
          <p:nvPr/>
        </p:nvSpPr>
        <p:spPr>
          <a:xfrm>
            <a:off x="685800" y="2647950"/>
            <a:ext cx="254793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es-AR" sz="1800" b="1" i="0" dirty="0">
                <a:solidFill>
                  <a:srgbClr val="B64319"/>
                </a:solidFill>
                <a:latin typeface="Fredoka"/>
                <a:cs typeface="Fredoka"/>
              </a:rPr>
              <a:t>Economía circular</a:t>
            </a:r>
          </a:p>
        </p:txBody>
      </p:sp>
      <p:sp>
        <p:nvSpPr>
          <p:cNvPr id="393" name="t393"/>
          <p:cNvSpPr txBox="1"/>
          <p:nvPr/>
        </p:nvSpPr>
        <p:spPr>
          <a:xfrm>
            <a:off x="685800" y="3314700"/>
            <a:ext cx="2547938" cy="1866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lang="es-AR" sz="1050" b="0" i="0" dirty="0">
                <a:solidFill>
                  <a:srgbClr val="6E6C68"/>
                </a:solidFill>
                <a:latin typeface="Bricolage Grotesque"/>
                <a:cs typeface="Bricolage Grotesque"/>
              </a:rPr>
              <a:t>Los objetos vuelven al uso</a:t>
            </a:r>
          </a:p>
        </p:txBody>
      </p:sp>
      <p:sp>
        <p:nvSpPr>
          <p:cNvPr id="394" name="r394"/>
          <p:cNvSpPr/>
          <p:nvPr/>
        </p:nvSpPr>
        <p:spPr>
          <a:xfrm>
            <a:off x="3443288" y="2457450"/>
            <a:ext cx="2547938" cy="28575"/>
          </a:xfrm>
          <a:prstGeom prst="rect">
            <a:avLst/>
          </a:prstGeom>
          <a:solidFill>
            <a:srgbClr val="FF5B1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" name="t395"/>
          <p:cNvSpPr txBox="1"/>
          <p:nvPr/>
        </p:nvSpPr>
        <p:spPr>
          <a:xfrm>
            <a:off x="3443288" y="2647950"/>
            <a:ext cx="254793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es-AR" sz="1800" b="1" i="0" dirty="0">
                <a:solidFill>
                  <a:srgbClr val="B64319"/>
                </a:solidFill>
                <a:latin typeface="Fredoka"/>
                <a:cs typeface="Fredoka"/>
              </a:rPr>
              <a:t>Memoria colectiva</a:t>
            </a:r>
          </a:p>
        </p:txBody>
      </p:sp>
      <p:sp>
        <p:nvSpPr>
          <p:cNvPr id="396" name="t396"/>
          <p:cNvSpPr txBox="1"/>
          <p:nvPr/>
        </p:nvSpPr>
        <p:spPr>
          <a:xfrm>
            <a:off x="3443288" y="3314700"/>
            <a:ext cx="2547938" cy="1866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lang="es-AR" sz="1050" b="0" i="0" dirty="0">
                <a:solidFill>
                  <a:srgbClr val="6E6C68"/>
                </a:solidFill>
                <a:latin typeface="Bricolage Grotesque"/>
                <a:cs typeface="Bricolage Grotesque"/>
              </a:rPr>
              <a:t>Historias privadas hechas patrimonio</a:t>
            </a:r>
          </a:p>
        </p:txBody>
      </p:sp>
      <p:sp>
        <p:nvSpPr>
          <p:cNvPr id="397" name="r397"/>
          <p:cNvSpPr/>
          <p:nvPr/>
        </p:nvSpPr>
        <p:spPr>
          <a:xfrm>
            <a:off x="6200775" y="2457450"/>
            <a:ext cx="2547938" cy="28575"/>
          </a:xfrm>
          <a:prstGeom prst="rect">
            <a:avLst/>
          </a:prstGeom>
          <a:solidFill>
            <a:srgbClr val="FF5B1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" name="t398"/>
          <p:cNvSpPr txBox="1"/>
          <p:nvPr/>
        </p:nvSpPr>
        <p:spPr>
          <a:xfrm>
            <a:off x="6200775" y="2647950"/>
            <a:ext cx="254793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es-AR" sz="1800" b="1" i="0" dirty="0">
                <a:solidFill>
                  <a:srgbClr val="B64319"/>
                </a:solidFill>
                <a:latin typeface="Fredoka"/>
                <a:cs typeface="Fredoka"/>
              </a:rPr>
              <a:t>Espacio público</a:t>
            </a:r>
          </a:p>
        </p:txBody>
      </p:sp>
      <p:sp>
        <p:nvSpPr>
          <p:cNvPr id="399" name="t399"/>
          <p:cNvSpPr txBox="1"/>
          <p:nvPr/>
        </p:nvSpPr>
        <p:spPr>
          <a:xfrm>
            <a:off x="6200775" y="3314700"/>
            <a:ext cx="2547938" cy="1866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lang="es-AR" sz="1050" b="0" i="0" dirty="0">
                <a:solidFill>
                  <a:srgbClr val="6E6C68"/>
                </a:solidFill>
                <a:latin typeface="Bricolage Grotesque"/>
                <a:cs typeface="Bricolage Grotesque"/>
              </a:rPr>
              <a:t>Una obra que la ciudad ayudó a decidir</a:t>
            </a:r>
          </a:p>
        </p:txBody>
      </p:sp>
      <p:sp>
        <p:nvSpPr>
          <p:cNvPr id="400" name="r400"/>
          <p:cNvSpPr/>
          <p:nvPr/>
        </p:nvSpPr>
        <p:spPr>
          <a:xfrm>
            <a:off x="8958263" y="2457450"/>
            <a:ext cx="2547938" cy="28575"/>
          </a:xfrm>
          <a:prstGeom prst="rect">
            <a:avLst/>
          </a:prstGeom>
          <a:solidFill>
            <a:srgbClr val="FF5B1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" name="t401"/>
          <p:cNvSpPr txBox="1"/>
          <p:nvPr/>
        </p:nvSpPr>
        <p:spPr>
          <a:xfrm>
            <a:off x="8958263" y="2647950"/>
            <a:ext cx="254793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es-AR" sz="1800" b="1" i="0" dirty="0">
                <a:solidFill>
                  <a:srgbClr val="B64319"/>
                </a:solidFill>
                <a:latin typeface="Fredoka"/>
                <a:cs typeface="Fredoka"/>
              </a:rPr>
              <a:t>Museo activo</a:t>
            </a:r>
          </a:p>
        </p:txBody>
      </p:sp>
      <p:sp>
        <p:nvSpPr>
          <p:cNvPr id="402" name="t402"/>
          <p:cNvSpPr txBox="1"/>
          <p:nvPr/>
        </p:nvSpPr>
        <p:spPr>
          <a:xfrm>
            <a:off x="8958263" y="3314700"/>
            <a:ext cx="2547938" cy="18669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lang="es-AR" sz="1050" b="0" i="0" dirty="0">
                <a:solidFill>
                  <a:srgbClr val="6E6C68"/>
                </a:solidFill>
                <a:latin typeface="Bricolage Grotesque"/>
                <a:cs typeface="Bricolage Grotesque"/>
              </a:rPr>
              <a:t>Producción, no solo exhibición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t403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FFE500"/>
                </a:solidFill>
                <a:latin typeface="DM Mono"/>
                <a:cs typeface="DM Mono"/>
              </a:rPr>
              <a:t>18</a:t>
            </a:r>
            <a:r>
              <a:rPr lang="es-AR" sz="825" b="0" i="0" spc="149" dirty="0">
                <a:solidFill>
                  <a:srgbClr val="8A8884"/>
                </a:solidFill>
                <a:latin typeface="DM Mono"/>
                <a:cs typeface="DM Mono"/>
              </a:rPr>
              <a:t>   LOS CREADORES</a:t>
            </a:r>
          </a:p>
        </p:txBody>
      </p:sp>
      <p:sp>
        <p:nvSpPr>
          <p:cNvPr id="404" name="t404"/>
          <p:cNvSpPr txBox="1"/>
          <p:nvPr/>
        </p:nvSpPr>
        <p:spPr>
          <a:xfrm>
            <a:off x="685800" y="876300"/>
            <a:ext cx="9525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3000" b="1" i="0" dirty="0">
                <a:solidFill>
                  <a:srgbClr val="F2EFE9"/>
                </a:solidFill>
                <a:latin typeface="Fredoka"/>
                <a:cs typeface="Fredoka"/>
              </a:rPr>
              <a:t>Quiénes están detrás de MUTAR</a:t>
            </a:r>
          </a:p>
        </p:txBody>
      </p:sp>
      <p:sp>
        <p:nvSpPr>
          <p:cNvPr id="405" name="r405"/>
          <p:cNvSpPr/>
          <p:nvPr/>
        </p:nvSpPr>
        <p:spPr>
          <a:xfrm>
            <a:off x="685800" y="1714500"/>
            <a:ext cx="5181600" cy="28575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" name="t406"/>
          <p:cNvSpPr txBox="1"/>
          <p:nvPr/>
        </p:nvSpPr>
        <p:spPr>
          <a:xfrm>
            <a:off x="685800" y="1866900"/>
            <a:ext cx="518160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50" b="0" i="0" spc="120" dirty="0">
                <a:solidFill>
                  <a:srgbClr val="FFE500"/>
                </a:solidFill>
                <a:latin typeface="DM Mono"/>
                <a:cs typeface="DM Mono"/>
              </a:rPr>
              <a:t>DIRECCIÓN · DIRECCIÓN DE ARTE</a:t>
            </a:r>
          </a:p>
        </p:txBody>
      </p:sp>
      <p:sp>
        <p:nvSpPr>
          <p:cNvPr id="407" name="t407"/>
          <p:cNvSpPr txBox="1"/>
          <p:nvPr/>
        </p:nvSpPr>
        <p:spPr>
          <a:xfrm>
            <a:off x="685800" y="2095500"/>
            <a:ext cx="51816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250" b="1" i="0" dirty="0">
                <a:solidFill>
                  <a:srgbClr val="F2EFE9"/>
                </a:solidFill>
                <a:latin typeface="Fredoka"/>
                <a:cs typeface="Fredoka"/>
              </a:rPr>
              <a:t>Gervasio Canda</a:t>
            </a:r>
          </a:p>
        </p:txBody>
      </p:sp>
      <p:sp>
        <p:nvSpPr>
          <p:cNvPr id="408" name="t408"/>
          <p:cNvSpPr txBox="1"/>
          <p:nvPr/>
        </p:nvSpPr>
        <p:spPr>
          <a:xfrm>
            <a:off x="685800" y="2552700"/>
            <a:ext cx="518160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lang="es-AR" sz="975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Nacido en Buenos Aires, radicado en Montreal. Formado como arquitecto. Director de arte y socio de Ojo Raro, y concept artist senior en Epic Games.</a:t>
            </a:r>
          </a:p>
        </p:txBody>
      </p:sp>
      <p:sp>
        <p:nvSpPr>
          <p:cNvPr id="409" name="t409"/>
          <p:cNvSpPr txBox="1"/>
          <p:nvPr/>
        </p:nvSpPr>
        <p:spPr>
          <a:xfrm>
            <a:off x="685800" y="3429000"/>
            <a:ext cx="5181600" cy="12668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lang="es-AR" sz="713" b="0" i="0" spc="85" dirty="0">
                <a:solidFill>
                  <a:srgbClr val="F2EFE9"/>
                </a:solidFill>
                <a:latin typeface="DM Mono"/>
                <a:cs typeface="DM Mono"/>
              </a:rPr>
              <a:t>LUZ DIABLA · CARNE DE DIOS · OJO RARO · EPIC GAMES</a:t>
            </a:r>
          </a:p>
        </p:txBody>
      </p:sp>
      <p:sp>
        <p:nvSpPr>
          <p:cNvPr id="410" name="t410"/>
          <p:cNvSpPr txBox="1"/>
          <p:nvPr/>
        </p:nvSpPr>
        <p:spPr>
          <a:xfrm>
            <a:off x="685800" y="3771900"/>
            <a:ext cx="518160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lang="es-AR" sz="975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Codirector de Luz Diabla — mejor corto animado en Sitges y Guadalajara, clasificado al Oscar.</a:t>
            </a:r>
          </a:p>
        </p:txBody>
      </p:sp>
      <p:sp>
        <p:nvSpPr>
          <p:cNvPr id="411" name="t411"/>
          <p:cNvSpPr txBox="1"/>
          <p:nvPr/>
        </p:nvSpPr>
        <p:spPr>
          <a:xfrm>
            <a:off x="685800" y="4476750"/>
            <a:ext cx="5181600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lang="es-AR" sz="750" b="0" i="0" spc="60" dirty="0">
                <a:solidFill>
                  <a:srgbClr val="FFE500"/>
                </a:solidFill>
                <a:latin typeface="DM Mono"/>
                <a:cs typeface="DM Mono"/>
              </a:rPr>
              <a:t>artstation.com/candagervasio · imdb.com/name/nm10640236 · ojoraro.com.ar</a:t>
            </a:r>
          </a:p>
        </p:txBody>
      </p:sp>
      <p:sp>
        <p:nvSpPr>
          <p:cNvPr id="412" name="r412"/>
          <p:cNvSpPr/>
          <p:nvPr/>
        </p:nvSpPr>
        <p:spPr>
          <a:xfrm>
            <a:off x="6324600" y="1714500"/>
            <a:ext cx="5181600" cy="28575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" name="t413"/>
          <p:cNvSpPr txBox="1"/>
          <p:nvPr/>
        </p:nvSpPr>
        <p:spPr>
          <a:xfrm>
            <a:off x="6324600" y="1866900"/>
            <a:ext cx="518160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50" b="0" i="0" spc="120" dirty="0">
                <a:solidFill>
                  <a:srgbClr val="FFE500"/>
                </a:solidFill>
                <a:latin typeface="DM Mono"/>
                <a:cs typeface="DM Mono"/>
              </a:rPr>
              <a:t>DIRECCIÓN · ARTISTA VISUAL · MÚSICO</a:t>
            </a:r>
          </a:p>
        </p:txBody>
      </p:sp>
      <p:sp>
        <p:nvSpPr>
          <p:cNvPr id="414" name="t414"/>
          <p:cNvSpPr txBox="1"/>
          <p:nvPr/>
        </p:nvSpPr>
        <p:spPr>
          <a:xfrm>
            <a:off x="6324600" y="2095500"/>
            <a:ext cx="51816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2250" b="1" i="0" dirty="0">
                <a:solidFill>
                  <a:srgbClr val="F2EFE9"/>
                </a:solidFill>
                <a:latin typeface="Fredoka"/>
                <a:cs typeface="Fredoka"/>
              </a:rPr>
              <a:t>Federico Carlini</a:t>
            </a:r>
          </a:p>
        </p:txBody>
      </p:sp>
      <p:sp>
        <p:nvSpPr>
          <p:cNvPr id="415" name="t415"/>
          <p:cNvSpPr txBox="1"/>
          <p:nvPr/>
        </p:nvSpPr>
        <p:spPr>
          <a:xfrm>
            <a:off x="6324600" y="2552700"/>
            <a:ext cx="518160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lang="es-AR" sz="975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Dirección, dirección de arte y desarrollo visual en 3dar, Buenos Aires. Trabaja entre animación, medios inmersivos y música.</a:t>
            </a:r>
          </a:p>
        </p:txBody>
      </p:sp>
      <p:sp>
        <p:nvSpPr>
          <p:cNvPr id="416" name="t416"/>
          <p:cNvSpPr txBox="1"/>
          <p:nvPr/>
        </p:nvSpPr>
        <p:spPr>
          <a:xfrm>
            <a:off x="6324600" y="3429000"/>
            <a:ext cx="5181600" cy="12668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lang="es-AR" sz="713" b="0" i="0" spc="85" dirty="0">
                <a:solidFill>
                  <a:srgbClr val="F2EFE9"/>
                </a:solidFill>
                <a:latin typeface="DM Mono"/>
                <a:cs typeface="DM Mono"/>
              </a:rPr>
              <a:t>PAPER BIRDS · UNCANNY VALLEY · LIL DICKY: EARTH · 3DAR</a:t>
            </a:r>
          </a:p>
        </p:txBody>
      </p:sp>
      <p:sp>
        <p:nvSpPr>
          <p:cNvPr id="417" name="t417"/>
          <p:cNvSpPr txBox="1"/>
          <p:nvPr/>
        </p:nvSpPr>
        <p:spPr>
          <a:xfrm>
            <a:off x="6324600" y="3771900"/>
            <a:ext cx="5181600" cy="1733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lang="es-AR" sz="975" b="0" i="0" dirty="0">
                <a:solidFill>
                  <a:srgbClr val="8A8884"/>
                </a:solidFill>
                <a:latin typeface="Bricolage Grotesque"/>
                <a:cs typeface="Bricolage Grotesque"/>
              </a:rPr>
              <a:t>Codirector de Paper Birds, película VR interactiva de 30 minutos para Quest con Edward Norton y Joss Stone.</a:t>
            </a:r>
          </a:p>
        </p:txBody>
      </p:sp>
      <p:sp>
        <p:nvSpPr>
          <p:cNvPr id="418" name="t418"/>
          <p:cNvSpPr txBox="1"/>
          <p:nvPr/>
        </p:nvSpPr>
        <p:spPr>
          <a:xfrm>
            <a:off x="6324600" y="4476750"/>
            <a:ext cx="5181600" cy="1428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lang="es-AR" sz="750" b="0" i="0" spc="60" dirty="0">
                <a:solidFill>
                  <a:srgbClr val="FFE500"/>
                </a:solidFill>
                <a:latin typeface="DM Mono"/>
                <a:cs typeface="DM Mono"/>
              </a:rPr>
              <a:t>federicocarlini.com · imdb.com/name/nm10623762 · instagram.com/federico__carlini</a:t>
            </a:r>
          </a:p>
        </p:txBody>
      </p:sp>
      <p:sp>
        <p:nvSpPr>
          <p:cNvPr id="419" name="r419"/>
          <p:cNvSpPr/>
          <p:nvPr/>
        </p:nvSpPr>
        <p:spPr>
          <a:xfrm>
            <a:off x="685800" y="5334000"/>
            <a:ext cx="3267075" cy="2857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E2C29"/>
            </a:solidFill>
          </a:ln>
        </p:spPr>
        <p:txBody>
          <a:bodyPr/>
          <a:lstStyle/>
          <a:p/>
        </p:txBody>
      </p:sp>
      <p:sp>
        <p:nvSpPr>
          <p:cNvPr id="420" name="r420"/>
          <p:cNvSpPr/>
          <p:nvPr/>
        </p:nvSpPr>
        <p:spPr>
          <a:xfrm>
            <a:off x="838200" y="5453063"/>
            <a:ext cx="57150" cy="57150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21" name="t421"/>
          <p:cNvSpPr txBox="1"/>
          <p:nvPr/>
        </p:nvSpPr>
        <p:spPr>
          <a:xfrm>
            <a:off x="971550" y="5419725"/>
            <a:ext cx="2847975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8A8884"/>
                </a:solidFill>
                <a:latin typeface="DM Mono"/>
                <a:cs typeface="DM Mono"/>
              </a:rPr>
              <a:t>A SUMAR — RETRATOS, Y EL EQUIPO DE PRODUCCIÓN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422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FF2E88"/>
                </a:solidFill>
                <a:latin typeface="DM Mono"/>
                <a:cs typeface="DM Mono"/>
              </a:rPr>
              <a:t>19</a:t>
            </a:r>
            <a:r>
              <a:rPr lang="es-AR" sz="825" b="0" i="0" spc="149" dirty="0">
                <a:solidFill>
                  <a:srgbClr val="8A8884"/>
                </a:solidFill>
                <a:latin typeface="DM Mono"/>
                <a:cs typeface="DM Mono"/>
              </a:rPr>
              <a:t>   CIERRE</a:t>
            </a:r>
          </a:p>
        </p:txBody>
      </p:sp>
      <p:sp>
        <p:nvSpPr>
          <p:cNvPr id="423" name="t423"/>
          <p:cNvSpPr txBox="1"/>
          <p:nvPr/>
        </p:nvSpPr>
        <p:spPr>
          <a:xfrm>
            <a:off x="685800" y="1809750"/>
            <a:ext cx="10820400" cy="6134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lang="es-AR" sz="3450" b="1" i="0" dirty="0">
                <a:solidFill>
                  <a:srgbClr val="F2EFE9"/>
                </a:solidFill>
                <a:latin typeface="Fredoka"/>
                <a:cs typeface="Fredoka"/>
              </a:rPr>
              <a:t>MUTAR no se trata de reciclar objetos.</a:t>
            </a:r>
          </a:p>
        </p:txBody>
      </p:sp>
      <p:sp>
        <p:nvSpPr>
          <p:cNvPr id="424" name="t424"/>
          <p:cNvSpPr txBox="1"/>
          <p:nvPr/>
        </p:nvSpPr>
        <p:spPr>
          <a:xfrm>
            <a:off x="685800" y="2571750"/>
            <a:ext cx="10820400" cy="6134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lang="es-AR" sz="3450" b="1" i="0" dirty="0">
                <a:solidFill>
                  <a:srgbClr val="F2EFE9"/>
                </a:solidFill>
                <a:latin typeface="Fredoka"/>
                <a:cs typeface="Fredoka"/>
              </a:rPr>
              <a:t>Se trata de reciclar nuestra relación con ellos.</a:t>
            </a:r>
          </a:p>
        </p:txBody>
      </p:sp>
      <p:sp>
        <p:nvSpPr>
          <p:cNvPr id="425" name="t425"/>
          <p:cNvSpPr txBox="1"/>
          <p:nvPr/>
        </p:nvSpPr>
        <p:spPr>
          <a:xfrm>
            <a:off x="685800" y="3714750"/>
            <a:ext cx="10820400" cy="6134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lang="es-AR" sz="3450" b="1" i="0" dirty="0">
                <a:solidFill>
                  <a:srgbClr val="FF2E88"/>
                </a:solidFill>
                <a:latin typeface="Fredoka"/>
                <a:cs typeface="Fredoka"/>
              </a:rPr>
              <a:t>Soltar, no como pérdida, sino como acto creativo colectivo.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426"/>
          <p:cNvSpPr txBox="1"/>
          <p:nvPr/>
        </p:nvSpPr>
        <p:spPr>
          <a:xfrm>
            <a:off x="685800" y="419100"/>
            <a:ext cx="10820400" cy="1466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825" b="0" i="0" spc="149" dirty="0">
                <a:solidFill>
                  <a:srgbClr val="FF2E88"/>
                </a:solidFill>
                <a:latin typeface="DM Mono"/>
                <a:cs typeface="DM Mono"/>
              </a:rPr>
              <a:t>20</a:t>
            </a:r>
            <a:r>
              <a:rPr lang="es-AR" sz="825" b="0" i="0" spc="149" dirty="0">
                <a:solidFill>
                  <a:srgbClr val="8A8884"/>
                </a:solidFill>
                <a:latin typeface="DM Mono"/>
                <a:cs typeface="DM Mono"/>
              </a:rPr>
              <a:t>   CIERRE</a:t>
            </a:r>
          </a:p>
        </p:txBody>
      </p:sp>
      <p:pic>
        <p:nvPicPr>
          <p:cNvPr id="427" name="p427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428750"/>
            <a:ext cx="3238500" cy="762000"/>
          </a:xfrm>
          <a:prstGeom prst="rect">
            <a:avLst/>
          </a:prstGeom>
        </p:spPr>
      </p:pic>
      <p:sp>
        <p:nvSpPr>
          <p:cNvPr id="428" name="t428"/>
          <p:cNvSpPr txBox="1"/>
          <p:nvPr/>
        </p:nvSpPr>
        <p:spPr>
          <a:xfrm>
            <a:off x="685800" y="3048000"/>
            <a:ext cx="253365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50" b="0" i="0" spc="135" dirty="0">
                <a:solidFill>
                  <a:srgbClr val="8A8884"/>
                </a:solidFill>
                <a:latin typeface="DM Mono"/>
                <a:cs typeface="DM Mono"/>
              </a:rPr>
              <a:t>FORMATO</a:t>
            </a:r>
          </a:p>
        </p:txBody>
      </p:sp>
      <p:sp>
        <p:nvSpPr>
          <p:cNvPr id="429" name="t429"/>
          <p:cNvSpPr txBox="1"/>
          <p:nvPr/>
        </p:nvSpPr>
        <p:spPr>
          <a:xfrm>
            <a:off x="685800" y="3276600"/>
            <a:ext cx="2533650" cy="2266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s-AR" sz="1275" b="1" i="0" dirty="0">
                <a:solidFill>
                  <a:srgbClr val="F2EFE9"/>
                </a:solidFill>
                <a:latin typeface="Fredoka"/>
                <a:cs typeface="Fredoka"/>
              </a:rPr>
              <a:t>Happening en realidad mixta + escultura pública</a:t>
            </a:r>
          </a:p>
        </p:txBody>
      </p:sp>
      <p:sp>
        <p:nvSpPr>
          <p:cNvPr id="430" name="t430"/>
          <p:cNvSpPr txBox="1"/>
          <p:nvPr/>
        </p:nvSpPr>
        <p:spPr>
          <a:xfrm>
            <a:off x="3448050" y="3048000"/>
            <a:ext cx="253365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50" b="0" i="0" spc="135" dirty="0">
                <a:solidFill>
                  <a:srgbClr val="8A8884"/>
                </a:solidFill>
                <a:latin typeface="DM Mono"/>
                <a:cs typeface="DM Mono"/>
              </a:rPr>
              <a:t>ETAPA</a:t>
            </a:r>
          </a:p>
        </p:txBody>
      </p:sp>
      <p:sp>
        <p:nvSpPr>
          <p:cNvPr id="431" name="t431"/>
          <p:cNvSpPr txBox="1"/>
          <p:nvPr/>
        </p:nvSpPr>
        <p:spPr>
          <a:xfrm>
            <a:off x="3448050" y="3276600"/>
            <a:ext cx="2533650" cy="2266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s-AR" sz="1275" b="1" i="0" dirty="0">
                <a:solidFill>
                  <a:srgbClr val="F2EFE9"/>
                </a:solidFill>
                <a:latin typeface="Fredoka"/>
                <a:cs typeface="Fredoka"/>
              </a:rPr>
              <a:t>Tratamiento — buscando instituciones sede</a:t>
            </a:r>
          </a:p>
        </p:txBody>
      </p:sp>
      <p:sp>
        <p:nvSpPr>
          <p:cNvPr id="432" name="t432"/>
          <p:cNvSpPr txBox="1"/>
          <p:nvPr/>
        </p:nvSpPr>
        <p:spPr>
          <a:xfrm>
            <a:off x="6210300" y="3048000"/>
            <a:ext cx="253365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50" b="0" i="0" spc="135" dirty="0">
                <a:solidFill>
                  <a:srgbClr val="8A8884"/>
                </a:solidFill>
                <a:latin typeface="DM Mono"/>
                <a:cs typeface="DM Mono"/>
              </a:rPr>
              <a:t>POR</a:t>
            </a:r>
          </a:p>
        </p:txBody>
      </p:sp>
      <p:sp>
        <p:nvSpPr>
          <p:cNvPr id="433" name="t433"/>
          <p:cNvSpPr txBox="1"/>
          <p:nvPr/>
        </p:nvSpPr>
        <p:spPr>
          <a:xfrm>
            <a:off x="6210300" y="3276600"/>
            <a:ext cx="2533650" cy="2266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s-AR" sz="1275" b="1" i="0" dirty="0">
                <a:solidFill>
                  <a:srgbClr val="F2EFE9"/>
                </a:solidFill>
                <a:latin typeface="Fredoka"/>
                <a:cs typeface="Fredoka"/>
              </a:rPr>
              <a:t>Gervasio Canda · Federico Carlini</a:t>
            </a:r>
          </a:p>
        </p:txBody>
      </p:sp>
      <p:sp>
        <p:nvSpPr>
          <p:cNvPr id="434" name="t434"/>
          <p:cNvSpPr txBox="1"/>
          <p:nvPr/>
        </p:nvSpPr>
        <p:spPr>
          <a:xfrm>
            <a:off x="8972550" y="3048000"/>
            <a:ext cx="2533650" cy="133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50" b="0" i="0" spc="135" dirty="0">
                <a:solidFill>
                  <a:srgbClr val="8A8884"/>
                </a:solidFill>
                <a:latin typeface="DM Mono"/>
                <a:cs typeface="DM Mono"/>
              </a:rPr>
              <a:t>CONTACTO</a:t>
            </a:r>
          </a:p>
        </p:txBody>
      </p:sp>
      <p:sp>
        <p:nvSpPr>
          <p:cNvPr id="435" name="t435"/>
          <p:cNvSpPr txBox="1"/>
          <p:nvPr/>
        </p:nvSpPr>
        <p:spPr>
          <a:xfrm>
            <a:off x="8972550" y="3276600"/>
            <a:ext cx="2533650" cy="2266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s-AR" sz="1275" b="1" i="0" dirty="0">
                <a:solidFill>
                  <a:srgbClr val="F2EFE9"/>
                </a:solidFill>
                <a:latin typeface="Fredoka"/>
                <a:cs typeface="Fredoka"/>
              </a:rPr>
              <a:t>[ a completar ]</a:t>
            </a:r>
          </a:p>
        </p:txBody>
      </p:sp>
      <p:sp>
        <p:nvSpPr>
          <p:cNvPr id="436" name="r436"/>
          <p:cNvSpPr/>
          <p:nvPr/>
        </p:nvSpPr>
        <p:spPr>
          <a:xfrm>
            <a:off x="685800" y="4476750"/>
            <a:ext cx="4147185" cy="2857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E2C29"/>
            </a:solidFill>
          </a:ln>
        </p:spPr>
        <p:txBody>
          <a:bodyPr/>
          <a:lstStyle/>
          <a:p/>
        </p:txBody>
      </p:sp>
      <p:sp>
        <p:nvSpPr>
          <p:cNvPr id="437" name="r437"/>
          <p:cNvSpPr/>
          <p:nvPr/>
        </p:nvSpPr>
        <p:spPr>
          <a:xfrm>
            <a:off x="838200" y="4595813"/>
            <a:ext cx="57150" cy="57150"/>
          </a:xfrm>
          <a:prstGeom prst="ellipse">
            <a:avLst/>
          </a:prstGeom>
          <a:solidFill>
            <a:srgbClr val="FF2E8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" name="t438"/>
          <p:cNvSpPr txBox="1"/>
          <p:nvPr/>
        </p:nvSpPr>
        <p:spPr>
          <a:xfrm>
            <a:off x="971550" y="4562475"/>
            <a:ext cx="3728085" cy="140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s-AR" sz="788" b="0" i="0" spc="126" dirty="0">
                <a:solidFill>
                  <a:srgbClr val="8A8884"/>
                </a:solidFill>
                <a:latin typeface="DM Mono"/>
                <a:cs typeface="DM Mono"/>
              </a:rPr>
              <a:t>A SUMAR — PRESUPUESTO, CRONOGRAMA Y REQUERIMIENTOS TÉCNICOS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TAR">
  <a:themeElements>
    <a:clrScheme name="MUTAR">
      <a:dk1>
        <a:srgbClr val="0D0C0B"/>
      </a:dk1>
      <a:lt1>
        <a:srgbClr val="F2EFE9"/>
      </a:lt1>
      <a:dk2>
        <a:srgbClr val="0D0C0B"/>
      </a:dk2>
      <a:lt2>
        <a:srgbClr val="F2EFE9"/>
      </a:lt2>
      <a:accent1>
        <a:srgbClr val="FF2E88"/>
      </a:accent1>
      <a:accent2>
        <a:srgbClr val="C8F000"/>
      </a:accent2>
      <a:accent3>
        <a:srgbClr val="FFE500"/>
      </a:accent3>
      <a:accent4>
        <a:srgbClr val="2E9BFF"/>
      </a:accent4>
      <a:accent5>
        <a:srgbClr val="7A3CFF"/>
      </a:accent5>
      <a:accent6>
        <a:srgbClr val="FF5B1F"/>
      </a:accent6>
      <a:hlink>
        <a:srgbClr val="FF2E88"/>
      </a:hlink>
      <a:folHlink>
        <a:srgbClr val="7A3CFF"/>
      </a:folHlink>
    </a:clrScheme>
    <a:fontScheme name="MUTAR">
      <a:majorFont>
        <a:latin typeface="Fredoka"/>
        <a:ea typeface=""/>
        <a:cs typeface=""/>
      </a:majorFont>
      <a:minorFont>
        <a:latin typeface="Bricolage Grotesque"/>
        <a:ea typeface=""/>
        <a:cs typeface=""/>
      </a:minorFont>
    </a:fontScheme>
    <a:fmtScheme name="MUTA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